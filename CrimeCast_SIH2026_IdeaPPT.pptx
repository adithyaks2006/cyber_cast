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4E618E6-1CC4-4A8B-B802-00B3CDE11F8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FE6F82-8771-46FB-ADA9-A29E3F275AF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377C55-11DC-4E85-8205-B8C964AC137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B7F60F2-842F-444D-AA68-2927696D124E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389570D-8996-47A7-8114-0AFDDA30EC59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B6392F7-E7DA-4794-B50C-8ECCF390E91F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29239B-BF7D-40DF-9483-AA1ABBF946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78FBDE-F415-4510-A070-72DE87985C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A485FCF-040A-4301-88D7-6800A81A15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CFBD244-F1C0-48FB-89A7-70ADC6583F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A32F74F-7EEF-4BA2-AE19-8224CD7034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5354280" cy="503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095480"/>
            <a:ext cx="5354280" cy="503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AB5AA38-4559-4912-9241-571EA4C098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B0AC345-F1B2-46CC-BE4C-E538E6FE65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8E81CC7-87FC-492C-AD0D-DBE524D9DD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783BB37-007F-4BB7-AFAB-E342FD2F95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E837237-25B3-4E2A-91A2-F1740998CE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FB8FCCE-6CB6-402E-B8C0-657D26C38F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Mast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er 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8EE2B8-F20E-4666-95CF-A3B2B56D9E48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TradeGothic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TradeGothic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TradeGothic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TradeGothic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ck 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ed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as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te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titl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Trade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Trade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Trade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D8A68A-3833-49A5-8120-684EEB8036E3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Trade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Trade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Trade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1FB8C9-ACC4-47E3-82B1-64BC54CDD1E0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Trade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Trade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Trade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27A42E-CD8B-40F5-B601-E754931EAD22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TradeGothic"/>
                <a:ea typeface="ＭＳ Ｐゴシック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5CC706-362E-4096-AACA-1818913BFE22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Trade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Trade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Trade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Trade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Trade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Trade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FC37AF-9BB5-4352-A16B-77AC420321A6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rade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rade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Trade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rade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rade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Trade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8CFE0A-5FAA-467E-9457-5C1967152E7C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BE6273-62D8-490E-8618-DBE4ADB82C2B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5602DC-5D76-4C36-BB68-F4AA8FA71B26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Trade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Trade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Trade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931780-3A68-4C9A-AABF-F949553D433F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905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TradeGothic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TradeGothic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TradeGothic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TradeGothic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TradeGothic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TradeGothic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TradeGothic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TradeGothic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TradeGothic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TradeGothic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TradeGothic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TradeGothic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TradeGothic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EC65D4-4698-4EDE-A9AB-85DABE27C767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3880" y="0"/>
            <a:ext cx="914364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73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6680" y="851400"/>
            <a:ext cx="4638240" cy="5154480"/>
          </a:xfrm>
          <a:custGeom>
            <a:avLst/>
            <a:gdLst>
              <a:gd name="textAreaLeft" fmla="*/ 0 w 4638240"/>
              <a:gd name="textAreaRight" fmla="*/ 4638600 w 4638240"/>
              <a:gd name="textAreaTop" fmla="*/ 0 h 5154480"/>
              <a:gd name="textAreaBottom" fmla="*/ 5154840 h 5154480"/>
            </a:gdLst>
            <a:ahLst/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pic>
        <p:nvPicPr>
          <p:cNvPr id="74" name="Picture 4" descr=""/>
          <p:cNvPicPr/>
          <p:nvPr/>
        </p:nvPicPr>
        <p:blipFill>
          <a:blip r:embed="rId1"/>
          <a:srcRect l="0" t="0" r="59916" b="0"/>
          <a:stretch/>
        </p:blipFill>
        <p:spPr>
          <a:xfrm>
            <a:off x="6854760" y="1715760"/>
            <a:ext cx="3203280" cy="3425760"/>
          </a:xfrm>
          <a:prstGeom prst="rect">
            <a:avLst/>
          </a:prstGeom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subTitle"/>
          </p:nvPr>
        </p:nvSpPr>
        <p:spPr>
          <a:xfrm>
            <a:off x="1245600" y="648720"/>
            <a:ext cx="8534160" cy="1752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ＭＳ Ｐゴシック"/>
              </a:rPr>
              <a:t>IDEA TITLE PAGE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2960" cy="207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chemeClr val="dk2"/>
                </a:solidFill>
                <a:latin typeface="Garamond"/>
                <a:ea typeface="ＭＳ Ｐゴシック"/>
              </a:rPr>
              <a:t>SMART INDIA HACKATHON 2026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7" name="Picture 1" descr=""/>
          <p:cNvPicPr/>
          <p:nvPr/>
        </p:nvPicPr>
        <p:blipFill>
          <a:blip r:embed="rId2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ln w="0">
            <a:noFill/>
          </a:ln>
        </p:spPr>
      </p:pic>
      <p:sp>
        <p:nvSpPr>
          <p:cNvPr id="78" name="Oval 37"/>
          <p:cNvSpPr/>
          <p:nvPr/>
        </p:nvSpPr>
        <p:spPr>
          <a:xfrm>
            <a:off x="331200" y="2149560"/>
            <a:ext cx="255600" cy="255600"/>
          </a:xfrm>
          <a:prstGeom prst="ellipse">
            <a:avLst/>
          </a:prstGeom>
          <a:solidFill>
            <a:srgbClr val="1f49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Box 38"/>
          <p:cNvSpPr/>
          <p:nvPr/>
        </p:nvSpPr>
        <p:spPr>
          <a:xfrm>
            <a:off x="715320" y="2122200"/>
            <a:ext cx="554004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3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PS ID:  </a:t>
            </a:r>
            <a:r>
              <a:rPr b="0" lang="en-US" sz="130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1671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Oval 39"/>
          <p:cNvSpPr/>
          <p:nvPr/>
        </p:nvSpPr>
        <p:spPr>
          <a:xfrm>
            <a:off x="331200" y="2716560"/>
            <a:ext cx="255600" cy="255600"/>
          </a:xfrm>
          <a:prstGeom prst="ellipse">
            <a:avLst/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40"/>
          <p:cNvSpPr/>
          <p:nvPr/>
        </p:nvSpPr>
        <p:spPr>
          <a:xfrm>
            <a:off x="715320" y="2689200"/>
            <a:ext cx="5540040" cy="4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300" spc="-1" strike="noStrike">
                <a:solidFill>
                  <a:srgbClr val="f79646"/>
                </a:solidFill>
                <a:latin typeface="Calibri"/>
                <a:ea typeface="ＭＳ Ｐゴシック"/>
              </a:rPr>
              <a:t>PS Title:  </a:t>
            </a:r>
            <a:r>
              <a:rPr b="0" lang="en-US" sz="130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Development of Predictive Analytics &amp; Automated Dispatch System for Identifying Cash-Out Locations in Cybercrime Cases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Oval 41"/>
          <p:cNvSpPr/>
          <p:nvPr/>
        </p:nvSpPr>
        <p:spPr>
          <a:xfrm>
            <a:off x="331200" y="3283560"/>
            <a:ext cx="255600" cy="255600"/>
          </a:xfrm>
          <a:prstGeom prst="ellipse">
            <a:avLst/>
          </a:prstGeom>
          <a:solidFill>
            <a:srgbClr val="4bac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3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42"/>
          <p:cNvSpPr/>
          <p:nvPr/>
        </p:nvSpPr>
        <p:spPr>
          <a:xfrm>
            <a:off x="715320" y="3256200"/>
            <a:ext cx="554004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300" spc="-1" strike="noStrike">
                <a:solidFill>
                  <a:srgbClr val="4bacc6"/>
                </a:solidFill>
                <a:latin typeface="Calibri"/>
                <a:ea typeface="ＭＳ Ｐゴシック"/>
              </a:rPr>
              <a:t>Theme:  </a:t>
            </a:r>
            <a:r>
              <a:rPr b="0" lang="en-US" sz="130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Smart Policing / MHA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Oval 43"/>
          <p:cNvSpPr/>
          <p:nvPr/>
        </p:nvSpPr>
        <p:spPr>
          <a:xfrm>
            <a:off x="331200" y="3850560"/>
            <a:ext cx="255600" cy="255600"/>
          </a:xfrm>
          <a:prstGeom prst="ellipse">
            <a:avLst/>
          </a:prstGeom>
          <a:solidFill>
            <a:srgbClr val="1f49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Box 44"/>
          <p:cNvSpPr/>
          <p:nvPr/>
        </p:nvSpPr>
        <p:spPr>
          <a:xfrm>
            <a:off x="715320" y="3822840"/>
            <a:ext cx="554004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3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PS Category:  </a:t>
            </a:r>
            <a:r>
              <a:rPr b="0" lang="en-US" sz="130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Software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Oval 45"/>
          <p:cNvSpPr/>
          <p:nvPr/>
        </p:nvSpPr>
        <p:spPr>
          <a:xfrm>
            <a:off x="331200" y="4417200"/>
            <a:ext cx="255600" cy="255600"/>
          </a:xfrm>
          <a:prstGeom prst="ellipse">
            <a:avLst/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46"/>
          <p:cNvSpPr/>
          <p:nvPr/>
        </p:nvSpPr>
        <p:spPr>
          <a:xfrm>
            <a:off x="715320" y="4389840"/>
            <a:ext cx="554004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300" spc="-1" strike="noStrike">
                <a:solidFill>
                  <a:srgbClr val="f79646"/>
                </a:solidFill>
                <a:latin typeface="Calibri"/>
                <a:ea typeface="ＭＳ Ｐゴシック"/>
              </a:rPr>
              <a:t>Team ID:  </a:t>
            </a:r>
            <a:r>
              <a:rPr b="0" lang="en-US" sz="130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(Add your Team ID)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Oval 47"/>
          <p:cNvSpPr/>
          <p:nvPr/>
        </p:nvSpPr>
        <p:spPr>
          <a:xfrm>
            <a:off x="331200" y="4984200"/>
            <a:ext cx="255600" cy="255600"/>
          </a:xfrm>
          <a:prstGeom prst="ellipse">
            <a:avLst/>
          </a:prstGeom>
          <a:solidFill>
            <a:srgbClr val="4bac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48"/>
          <p:cNvSpPr/>
          <p:nvPr/>
        </p:nvSpPr>
        <p:spPr>
          <a:xfrm>
            <a:off x="715320" y="4956840"/>
            <a:ext cx="554004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300" spc="-1" strike="noStrike">
                <a:solidFill>
                  <a:srgbClr val="4bacc6"/>
                </a:solidFill>
                <a:latin typeface="Calibri"/>
                <a:ea typeface="ＭＳ Ｐゴシック"/>
              </a:rPr>
              <a:t>Team Name:  </a:t>
            </a:r>
            <a:r>
              <a:rPr b="0" lang="en-US" sz="130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(Add your Registered Team Name)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ounded Rectangle 49"/>
          <p:cNvSpPr/>
          <p:nvPr/>
        </p:nvSpPr>
        <p:spPr>
          <a:xfrm>
            <a:off x="331200" y="5569560"/>
            <a:ext cx="5924160" cy="566640"/>
          </a:xfrm>
          <a:prstGeom prst="roundRect">
            <a:avLst>
              <a:gd name="adj" fmla="val 18000"/>
            </a:avLst>
          </a:prstGeom>
          <a:solidFill>
            <a:srgbClr val="1f49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79646"/>
                </a:solidFill>
                <a:latin typeface="Calibri"/>
                <a:ea typeface="ＭＳ Ｐゴシック"/>
              </a:rPr>
              <a:t>Idea Title: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CrimeCast — Predictive Cash-Out Interception Framework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8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691640" y="0"/>
            <a:ext cx="8088480" cy="9140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  <a:p>
            <a:pPr indent="0" algn="ctr" defTabSz="457200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f497d"/>
                </a:solidFill>
                <a:latin typeface="Cambria"/>
                <a:ea typeface="ＭＳ Ｐゴシック"/>
              </a:rPr>
              <a:t>CrimeCast: Two-Tier Spatial Framework for Predictive Cybercrime Cash-Out Interception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1200" spc="-1" strike="noStrike">
                <a:solidFill>
                  <a:schemeClr val="lt1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995142-E9C4-48B0-9233-3850F05F6F76}" type="slidenum">
              <a:rPr b="1" lang="en-US" sz="1200" spc="-1" strike="noStrike">
                <a:solidFill>
                  <a:schemeClr val="lt1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ftr" idx="38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lt1"/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lt1"/>
                </a:solidFill>
                <a:latin typeface="TradeGothic"/>
              </a:rPr>
              <a:t>@SIH Idea submission- Template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Oval 9"/>
          <p:cNvSpPr/>
          <p:nvPr/>
        </p:nvSpPr>
        <p:spPr>
          <a:xfrm>
            <a:off x="329760" y="25236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Team CrimeCast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Picture 10" descr="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ln w="0">
            <a:noFill/>
          </a:ln>
        </p:spPr>
      </p:pic>
      <p:sp>
        <p:nvSpPr>
          <p:cNvPr id="97" name="Rounded Rectangle 15361"/>
          <p:cNvSpPr/>
          <p:nvPr/>
        </p:nvSpPr>
        <p:spPr>
          <a:xfrm>
            <a:off x="411480" y="1115640"/>
            <a:ext cx="11383920" cy="1206720"/>
          </a:xfrm>
          <a:prstGeom prst="roundRect">
            <a:avLst>
              <a:gd name="adj" fmla="val 10000"/>
            </a:avLst>
          </a:prstGeom>
          <a:solidFill>
            <a:srgbClr val="6e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2920" rIns="164520" tIns="45000" bIns="4500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050" spc="-1" strike="noStrike">
                <a:solidFill>
                  <a:srgbClr val="ffb39c"/>
                </a:solidFill>
                <a:latin typeface="Calibri"/>
                <a:ea typeface="ＭＳ Ｐゴシック"/>
              </a:rPr>
              <a:t>THE PROBLEM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1" lang="en-US" sz="9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₹</a:t>
            </a:r>
            <a:r>
              <a:rPr b="1" lang="en-US" sz="9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11,333 Cr</a:t>
            </a:r>
            <a:r>
              <a:rPr b="0" lang="en-US" sz="980" spc="-1" strike="noStrike">
                <a:solidFill>
                  <a:srgbClr val="f0e0dc"/>
                </a:solidFill>
                <a:latin typeface="Calibri"/>
                <a:ea typeface="ＭＳ Ｐゴシック"/>
              </a:rPr>
              <a:t> lost to cybercrime in India (2023, NCRB). Funds move through 3-5 mule accounts within 2 hrs and are cashed out in distant cities — tracing becomes near-impossible after the fact.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1" lang="en-US" sz="9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Current status: </a:t>
            </a:r>
            <a:r>
              <a:rPr b="0" lang="en-US" sz="980" spc="-1" strike="noStrike">
                <a:solidFill>
                  <a:srgbClr val="f0e0dc"/>
                </a:solidFill>
                <a:latin typeface="Calibri"/>
                <a:ea typeface="ＭＳ Ｐゴシック"/>
              </a:rPr>
              <a:t>LEAs react only </a:t>
            </a:r>
            <a:r>
              <a:rPr b="1" lang="en-US" sz="9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after</a:t>
            </a:r>
            <a:r>
              <a:rPr b="0" lang="en-US" sz="980" spc="-1" strike="noStrike">
                <a:solidFill>
                  <a:srgbClr val="f0e0dc"/>
                </a:solidFill>
                <a:latin typeface="Calibri"/>
                <a:ea typeface="ＭＳ Ｐゴシック"/>
              </a:rPr>
              <a:t> cash-out — CCTV footage is gone, mules disperse, recovery probability falls below 3%.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1" lang="en-US" sz="9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Core gap: </a:t>
            </a:r>
            <a:r>
              <a:rPr b="0" lang="en-US" sz="980" spc="-1" strike="noStrike">
                <a:solidFill>
                  <a:srgbClr val="f0e0dc"/>
                </a:solidFill>
                <a:latin typeface="Calibri"/>
                <a:ea typeface="ＭＳ Ｐゴシック"/>
              </a:rPr>
              <a:t>No predictive system in India tells LEAs </a:t>
            </a:r>
            <a:r>
              <a:rPr b="1" lang="en-US" sz="9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where</a:t>
            </a:r>
            <a:r>
              <a:rPr b="0" lang="en-US" sz="980" spc="-1" strike="noStrike">
                <a:solidFill>
                  <a:srgbClr val="f0e0dc"/>
                </a:solidFill>
                <a:latin typeface="Calibri"/>
                <a:ea typeface="ＭＳ Ｐゴシック"/>
              </a:rPr>
              <a:t> funds will surface before it happens — manual NCRP triage takes 24-72 hrs, far beyond the 2-hr interdiction window.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Oval 15362"/>
          <p:cNvSpPr/>
          <p:nvPr/>
        </p:nvSpPr>
        <p:spPr>
          <a:xfrm>
            <a:off x="539640" y="1554480"/>
            <a:ext cx="328680" cy="328680"/>
          </a:xfrm>
          <a:prstGeom prst="ellipse">
            <a:avLst/>
          </a:prstGeom>
          <a:solidFill>
            <a:srgbClr val="e03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!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Rounded Rectangle 15363"/>
          <p:cNvSpPr/>
          <p:nvPr/>
        </p:nvSpPr>
        <p:spPr>
          <a:xfrm>
            <a:off x="411480" y="2450520"/>
            <a:ext cx="11383920" cy="73116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45000" bIns="45000" anchor="ctr">
            <a:noAutofit/>
          </a:bodyPr>
          <a:p>
            <a:pPr defTabSz="457200">
              <a:lnSpc>
                <a:spcPct val="102000"/>
              </a:lnSpc>
            </a:pPr>
            <a:r>
              <a:rPr b="1" lang="en-US" sz="1050" spc="-1" strike="noStrike">
                <a:solidFill>
                  <a:srgbClr val="f79646"/>
                </a:solidFill>
                <a:latin typeface="Calibri"/>
                <a:ea typeface="ＭＳ Ｐゴシック"/>
              </a:rPr>
              <a:t>PROPOSED SOLUTION   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2000"/>
              </a:lnSpc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Predicts — with </a:t>
            </a:r>
            <a:r>
              <a:rPr b="1" lang="en-US" sz="1150" spc="-1" strike="noStrike">
                <a:solidFill>
                  <a:srgbClr val="f79646"/>
                </a:solidFill>
                <a:latin typeface="Calibri"/>
                <a:ea typeface="ＭＳ Ｐゴシック"/>
              </a:rPr>
              <a:t>92.36% Top-5 accuracy</a:t>
            </a: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 — the district &amp; ATM cluster where stolen funds will be withdrawn, delivering a ranked intel package to LEAs within </a:t>
            </a:r>
            <a:r>
              <a:rPr b="1" lang="en-US" sz="1150" spc="-1" strike="noStrike">
                <a:solidFill>
                  <a:srgbClr val="f79646"/>
                </a:solidFill>
                <a:latin typeface="Calibri"/>
                <a:ea typeface="ＭＳ Ｐゴシック"/>
              </a:rPr>
              <a:t>90 seconds</a:t>
            </a: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 of complaint registration — before the withdrawal occurs.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Rounded Rectangle 15364"/>
          <p:cNvSpPr/>
          <p:nvPr/>
        </p:nvSpPr>
        <p:spPr>
          <a:xfrm>
            <a:off x="411480" y="3474720"/>
            <a:ext cx="1500480" cy="868320"/>
          </a:xfrm>
          <a:prstGeom prst="roundRect">
            <a:avLst>
              <a:gd name="adj" fmla="val 14000"/>
            </a:avLst>
          </a:prstGeom>
          <a:solidFill>
            <a:srgbClr val="4bac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1930 NCRP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Webhook Ingest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1" name="Connector 15365"/>
          <p:cNvCxnSpPr/>
          <p:nvPr/>
        </p:nvCxnSpPr>
        <p:spPr>
          <a:xfrm>
            <a:off x="1921320" y="3908880"/>
            <a:ext cx="128520" cy="360"/>
          </a:xfrm>
          <a:prstGeom prst="straightConnector1">
            <a:avLst/>
          </a:prstGeom>
          <a:ln w="22225">
            <a:solidFill>
              <a:srgbClr val="555b66"/>
            </a:solidFill>
            <a:round/>
          </a:ln>
        </p:spPr>
      </p:cxnSp>
      <p:sp>
        <p:nvSpPr>
          <p:cNvPr id="102" name="Isosceles Triangle 15366"/>
          <p:cNvSpPr/>
          <p:nvPr/>
        </p:nvSpPr>
        <p:spPr>
          <a:xfrm rot="5400000">
            <a:off x="1985760" y="3854160"/>
            <a:ext cx="109440" cy="109440"/>
          </a:xfrm>
          <a:prstGeom prst="triangle">
            <a:avLst>
              <a:gd name="adj" fmla="val 50000"/>
            </a:avLst>
          </a:prstGeom>
          <a:solidFill>
            <a:srgbClr val="555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080" bIns="10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103" name="Rounded Rectangle 15367"/>
          <p:cNvSpPr/>
          <p:nvPr/>
        </p:nvSpPr>
        <p:spPr>
          <a:xfrm>
            <a:off x="2058840" y="3474720"/>
            <a:ext cx="1500480" cy="868320"/>
          </a:xfrm>
          <a:prstGeom prst="roundRect">
            <a:avLst>
              <a:gd name="adj" fmla="val 14000"/>
            </a:avLst>
          </a:prstGeom>
          <a:solidFill>
            <a:srgbClr val="4bac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Complaint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Validation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4" name="Connector 15368"/>
          <p:cNvCxnSpPr/>
          <p:nvPr/>
        </p:nvCxnSpPr>
        <p:spPr>
          <a:xfrm>
            <a:off x="3568680" y="3908880"/>
            <a:ext cx="128160" cy="360"/>
          </a:xfrm>
          <a:prstGeom prst="straightConnector1">
            <a:avLst/>
          </a:prstGeom>
          <a:ln w="22225">
            <a:solidFill>
              <a:srgbClr val="555b66"/>
            </a:solidFill>
            <a:round/>
          </a:ln>
        </p:spPr>
      </p:cxnSp>
      <p:sp>
        <p:nvSpPr>
          <p:cNvPr id="105" name="Isosceles Triangle 15369"/>
          <p:cNvSpPr/>
          <p:nvPr/>
        </p:nvSpPr>
        <p:spPr>
          <a:xfrm rot="5400000">
            <a:off x="3633120" y="3854160"/>
            <a:ext cx="109440" cy="109440"/>
          </a:xfrm>
          <a:prstGeom prst="triangle">
            <a:avLst>
              <a:gd name="adj" fmla="val 50000"/>
            </a:avLst>
          </a:prstGeom>
          <a:solidFill>
            <a:srgbClr val="555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080" bIns="10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106" name="Rounded Rectangle 15370"/>
          <p:cNvSpPr/>
          <p:nvPr/>
        </p:nvSpPr>
        <p:spPr>
          <a:xfrm>
            <a:off x="3705840" y="3474720"/>
            <a:ext cx="1500480" cy="868320"/>
          </a:xfrm>
          <a:prstGeom prst="roundRect">
            <a:avLst>
              <a:gd name="adj" fmla="val 14000"/>
            </a:avLst>
          </a:prstGeom>
          <a:solidFill>
            <a:srgbClr val="4bac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Feature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Extraction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(38 features)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7" name="Connector 15371"/>
          <p:cNvCxnSpPr/>
          <p:nvPr/>
        </p:nvCxnSpPr>
        <p:spPr>
          <a:xfrm>
            <a:off x="5215680" y="3908880"/>
            <a:ext cx="128520" cy="360"/>
          </a:xfrm>
          <a:prstGeom prst="straightConnector1">
            <a:avLst/>
          </a:prstGeom>
          <a:ln w="22225">
            <a:solidFill>
              <a:srgbClr val="555b66"/>
            </a:solidFill>
            <a:round/>
          </a:ln>
        </p:spPr>
      </p:cxnSp>
      <p:sp>
        <p:nvSpPr>
          <p:cNvPr id="108" name="Isosceles Triangle 15372"/>
          <p:cNvSpPr/>
          <p:nvPr/>
        </p:nvSpPr>
        <p:spPr>
          <a:xfrm rot="5400000">
            <a:off x="5280120" y="3854160"/>
            <a:ext cx="109440" cy="109440"/>
          </a:xfrm>
          <a:prstGeom prst="triangle">
            <a:avLst>
              <a:gd name="adj" fmla="val 50000"/>
            </a:avLst>
          </a:prstGeom>
          <a:solidFill>
            <a:srgbClr val="555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080" bIns="10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109" name="Rounded Rectangle 15373"/>
          <p:cNvSpPr/>
          <p:nvPr/>
        </p:nvSpPr>
        <p:spPr>
          <a:xfrm>
            <a:off x="5353200" y="3474720"/>
            <a:ext cx="1500480" cy="868320"/>
          </a:xfrm>
          <a:prstGeom prst="roundRect">
            <a:avLst>
              <a:gd name="adj" fmla="val 14000"/>
            </a:avLst>
          </a:prstGeom>
          <a:solidFill>
            <a:srgbClr val="1f49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Tier-1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LightGBM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Top-5 Zones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0" name="Connector 15374"/>
          <p:cNvCxnSpPr/>
          <p:nvPr/>
        </p:nvCxnSpPr>
        <p:spPr>
          <a:xfrm>
            <a:off x="6863040" y="3908880"/>
            <a:ext cx="128520" cy="360"/>
          </a:xfrm>
          <a:prstGeom prst="straightConnector1">
            <a:avLst/>
          </a:prstGeom>
          <a:ln w="22225">
            <a:solidFill>
              <a:srgbClr val="555b66"/>
            </a:solidFill>
            <a:round/>
          </a:ln>
        </p:spPr>
      </p:cxnSp>
      <p:sp>
        <p:nvSpPr>
          <p:cNvPr id="111" name="Isosceles Triangle 15375"/>
          <p:cNvSpPr/>
          <p:nvPr/>
        </p:nvSpPr>
        <p:spPr>
          <a:xfrm rot="5400000">
            <a:off x="6927480" y="3854160"/>
            <a:ext cx="109440" cy="109440"/>
          </a:xfrm>
          <a:prstGeom prst="triangle">
            <a:avLst>
              <a:gd name="adj" fmla="val 50000"/>
            </a:avLst>
          </a:prstGeom>
          <a:solidFill>
            <a:srgbClr val="555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080" bIns="10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112" name="Rounded Rectangle 15376"/>
          <p:cNvSpPr/>
          <p:nvPr/>
        </p:nvSpPr>
        <p:spPr>
          <a:xfrm>
            <a:off x="7000560" y="3474720"/>
            <a:ext cx="1500480" cy="868320"/>
          </a:xfrm>
          <a:prstGeom prst="roundRect">
            <a:avLst>
              <a:gd name="adj" fmla="val 14000"/>
            </a:avLst>
          </a:prstGeom>
          <a:solidFill>
            <a:srgbClr val="1f49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Tier-2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DBSCAN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ATM Cluster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3" name="Connector 15377"/>
          <p:cNvCxnSpPr/>
          <p:nvPr/>
        </p:nvCxnSpPr>
        <p:spPr>
          <a:xfrm>
            <a:off x="8510400" y="3908880"/>
            <a:ext cx="128160" cy="360"/>
          </a:xfrm>
          <a:prstGeom prst="straightConnector1">
            <a:avLst/>
          </a:prstGeom>
          <a:ln w="22225">
            <a:solidFill>
              <a:srgbClr val="555b66"/>
            </a:solidFill>
            <a:round/>
          </a:ln>
        </p:spPr>
      </p:cxnSp>
      <p:sp>
        <p:nvSpPr>
          <p:cNvPr id="114" name="Isosceles Triangle 15378"/>
          <p:cNvSpPr/>
          <p:nvPr/>
        </p:nvSpPr>
        <p:spPr>
          <a:xfrm rot="5400000">
            <a:off x="8574840" y="3854160"/>
            <a:ext cx="109440" cy="109440"/>
          </a:xfrm>
          <a:prstGeom prst="triangle">
            <a:avLst>
              <a:gd name="adj" fmla="val 50000"/>
            </a:avLst>
          </a:prstGeom>
          <a:solidFill>
            <a:srgbClr val="555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080" bIns="10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115" name="Rounded Rectangle 15379"/>
          <p:cNvSpPr/>
          <p:nvPr/>
        </p:nvSpPr>
        <p:spPr>
          <a:xfrm>
            <a:off x="8647560" y="3474720"/>
            <a:ext cx="1500480" cy="868320"/>
          </a:xfrm>
          <a:prstGeom prst="roundRect">
            <a:avLst>
              <a:gd name="adj" fmla="val 14000"/>
            </a:avLst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HITL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Analyst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Review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6" name="Connector 15380"/>
          <p:cNvCxnSpPr/>
          <p:nvPr/>
        </p:nvCxnSpPr>
        <p:spPr>
          <a:xfrm>
            <a:off x="10157400" y="3908880"/>
            <a:ext cx="128520" cy="360"/>
          </a:xfrm>
          <a:prstGeom prst="straightConnector1">
            <a:avLst/>
          </a:prstGeom>
          <a:ln w="22225">
            <a:solidFill>
              <a:srgbClr val="555b66"/>
            </a:solidFill>
            <a:round/>
          </a:ln>
        </p:spPr>
      </p:cxnSp>
      <p:sp>
        <p:nvSpPr>
          <p:cNvPr id="117" name="Isosceles Triangle 15381"/>
          <p:cNvSpPr/>
          <p:nvPr/>
        </p:nvSpPr>
        <p:spPr>
          <a:xfrm rot="5400000">
            <a:off x="10221840" y="3854160"/>
            <a:ext cx="109440" cy="109440"/>
          </a:xfrm>
          <a:prstGeom prst="triangle">
            <a:avLst>
              <a:gd name="adj" fmla="val 50000"/>
            </a:avLst>
          </a:prstGeom>
          <a:solidFill>
            <a:srgbClr val="555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080" bIns="10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118" name="Rounded Rectangle 15382"/>
          <p:cNvSpPr/>
          <p:nvPr/>
        </p:nvSpPr>
        <p:spPr>
          <a:xfrm>
            <a:off x="10294920" y="3474720"/>
            <a:ext cx="1500480" cy="868320"/>
          </a:xfrm>
          <a:prstGeom prst="roundRect">
            <a:avLst>
              <a:gd name="adj" fmla="val 14000"/>
            </a:avLst>
          </a:prstGeom>
          <a:solidFill>
            <a:srgbClr val="7ca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LEA / Bank /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CERT-In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Dispatch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Box 15383"/>
          <p:cNvSpPr/>
          <p:nvPr/>
        </p:nvSpPr>
        <p:spPr>
          <a:xfrm>
            <a:off x="411480" y="3237120"/>
            <a:ext cx="54860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555b66"/>
                </a:solidFill>
                <a:latin typeface="Calibri"/>
                <a:ea typeface="ＭＳ Ｐゴシック"/>
              </a:rPr>
              <a:t>END-TO-END OPERATIONAL FLOW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ounded Rectangle 15384"/>
          <p:cNvSpPr/>
          <p:nvPr/>
        </p:nvSpPr>
        <p:spPr>
          <a:xfrm>
            <a:off x="411480" y="4526280"/>
            <a:ext cx="4553280" cy="1737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121" name="TextBox 15385"/>
          <p:cNvSpPr/>
          <p:nvPr/>
        </p:nvSpPr>
        <p:spPr>
          <a:xfrm>
            <a:off x="576000" y="4599360"/>
            <a:ext cx="42242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INNOVATION &amp; UNIQUENESS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Oval 15386"/>
          <p:cNvSpPr/>
          <p:nvPr/>
        </p:nvSpPr>
        <p:spPr>
          <a:xfrm>
            <a:off x="576000" y="4919400"/>
            <a:ext cx="136800" cy="136800"/>
          </a:xfrm>
          <a:prstGeom prst="ellipse">
            <a:avLst/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15387"/>
          <p:cNvSpPr/>
          <p:nvPr/>
        </p:nvSpPr>
        <p:spPr>
          <a:xfrm>
            <a:off x="777240" y="4892040"/>
            <a:ext cx="402300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8000"/>
              </a:lnSpc>
            </a:pPr>
            <a:r>
              <a:rPr b="1" lang="en-US" sz="95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1st in class — </a:t>
            </a:r>
            <a:r>
              <a:rPr b="0" lang="en-US" sz="95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Predictive (not reactive) cash-out engine — no comparable govt system in India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Oval 15388"/>
          <p:cNvSpPr/>
          <p:nvPr/>
        </p:nvSpPr>
        <p:spPr>
          <a:xfrm>
            <a:off x="576000" y="5244120"/>
            <a:ext cx="136800" cy="136800"/>
          </a:xfrm>
          <a:prstGeom prst="ellipse">
            <a:avLst/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15389"/>
          <p:cNvSpPr/>
          <p:nvPr/>
        </p:nvSpPr>
        <p:spPr>
          <a:xfrm>
            <a:off x="777240" y="5216760"/>
            <a:ext cx="402300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8000"/>
              </a:lnSpc>
            </a:pPr>
            <a:r>
              <a:rPr b="1" lang="en-US" sz="95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+67.6 pts lift — </a:t>
            </a:r>
            <a:r>
              <a:rPr b="0" lang="en-US" sz="95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92.36% Top-5 vs 24.79% majority baseline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Oval 15390"/>
          <p:cNvSpPr/>
          <p:nvPr/>
        </p:nvSpPr>
        <p:spPr>
          <a:xfrm>
            <a:off x="576000" y="5568840"/>
            <a:ext cx="136800" cy="136800"/>
          </a:xfrm>
          <a:prstGeom prst="ellipse">
            <a:avLst/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15391"/>
          <p:cNvSpPr/>
          <p:nvPr/>
        </p:nvSpPr>
        <p:spPr>
          <a:xfrm>
            <a:off x="777240" y="5541120"/>
            <a:ext cx="402300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8000"/>
              </a:lnSpc>
            </a:pPr>
            <a:r>
              <a:rPr b="1" lang="en-US" sz="95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Ablation-verified — </a:t>
            </a:r>
            <a:r>
              <a:rPr b="0" lang="en-US" sz="95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7 core features alone reach 92.36% Top-5 — scientifically robust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Oval 15392"/>
          <p:cNvSpPr/>
          <p:nvPr/>
        </p:nvSpPr>
        <p:spPr>
          <a:xfrm>
            <a:off x="576000" y="5893200"/>
            <a:ext cx="136800" cy="136800"/>
          </a:xfrm>
          <a:prstGeom prst="ellipse">
            <a:avLst/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15393"/>
          <p:cNvSpPr/>
          <p:nvPr/>
        </p:nvSpPr>
        <p:spPr>
          <a:xfrm>
            <a:off x="777240" y="5865840"/>
            <a:ext cx="402300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8000"/>
              </a:lnSpc>
            </a:pPr>
            <a:r>
              <a:rPr b="1" lang="en-US" sz="95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HITL-gated — </a:t>
            </a:r>
            <a:r>
              <a:rPr b="0" lang="en-US" sz="95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Every alert needs analyst approval — Responsible AI by design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15394"/>
          <p:cNvSpPr/>
          <p:nvPr/>
        </p:nvSpPr>
        <p:spPr>
          <a:xfrm>
            <a:off x="5193720" y="4526280"/>
            <a:ext cx="6601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EXISTING APPROACH  vs  CRIMECAST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1" name="Table 15395"/>
          <p:cNvGraphicFramePr/>
          <p:nvPr/>
        </p:nvGraphicFramePr>
        <p:xfrm>
          <a:off x="5193720" y="4837320"/>
          <a:ext cx="6601680" cy="1352880"/>
        </p:xfrm>
        <a:graphic>
          <a:graphicData uri="http://schemas.openxmlformats.org/drawingml/2006/table">
            <a:tbl>
              <a:tblPr/>
              <a:tblGrid>
                <a:gridCol w="1650240"/>
                <a:gridCol w="2442600"/>
                <a:gridCol w="2508480"/>
              </a:tblGrid>
              <a:tr h="225360">
                <a:tc>
                  <a:txBody>
                    <a:bodyPr lIns="54720" rIns="2736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lIns="54720" rIns="2736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Existing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lIns="54720" rIns="2736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CrimeCast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</a:tr>
              <a:tr h="225360">
                <a:tc>
                  <a:txBody>
                    <a:bodyPr lIns="54720" rIns="27360" tIns="13680" bIns="13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Detection Timing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27360" tIns="13680" bIns="13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Reactive (post cash-out)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27360" tIns="13680" bIns="13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7ca64b"/>
                          </a:solidFill>
                          <a:latin typeface="Calibri"/>
                        </a:rPr>
                        <a:t>Predictive, &lt;2 hr lead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5360">
                <a:tc>
                  <a:txBody>
                    <a:bodyPr lIns="54720" rIns="27360" tIns="13680" bIns="13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Location Accuracy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rIns="27360" tIns="13680" bIns="13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City-level guess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rIns="27360" tIns="13680" bIns="13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7ca64b"/>
                          </a:solidFill>
                          <a:latin typeface="Calibri"/>
                        </a:rPr>
                        <a:t>Top-5 ATM cluster (92.36%)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225360">
                <a:tc>
                  <a:txBody>
                    <a:bodyPr lIns="54720" rIns="27360" tIns="13680" bIns="13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Coordination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27360" tIns="13680" bIns="13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Manual phone calls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27360" tIns="13680" bIns="13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7ca64b"/>
                          </a:solidFill>
                          <a:latin typeface="Calibri"/>
                        </a:rPr>
                        <a:t>Automated I4C-compliant package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5360">
                <a:tc>
                  <a:txBody>
                    <a:bodyPr lIns="54720" rIns="27360" tIns="13680" bIns="13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Interdiction Time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rIns="27360" tIns="13680" bIns="13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24-72 hrs (too late)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rIns="27360" tIns="13680" bIns="13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7ca64b"/>
                          </a:solidFill>
                          <a:latin typeface="Calibri"/>
                        </a:rPr>
                        <a:t>&lt;90 sec from registration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225360">
                <a:tc>
                  <a:txBody>
                    <a:bodyPr lIns="54720" rIns="27360" tIns="13680" bIns="13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Audit Trail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27360" tIns="13680" bIns="13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None (no case evidence chain)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27360" tIns="13680" bIns="13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7ca64b"/>
                          </a:solidFill>
                          <a:latin typeface="Calibri"/>
                        </a:rPr>
                        <a:t>Immutable audit log (every action)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691640" y="0"/>
            <a:ext cx="7772040" cy="776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1f497d"/>
                </a:solidFill>
                <a:latin typeface="Cambria"/>
                <a:ea typeface="ＭＳ Ｐゴシック"/>
              </a:rPr>
              <a:t>TECHNICAL APPROACH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1200" spc="-1" strike="noStrike">
                <a:solidFill>
                  <a:schemeClr val="lt1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9BF624-97F9-45EF-9A0C-F5C797B817BA}" type="slidenum">
              <a:rPr b="1" lang="en-US" sz="1200" spc="-1" strike="noStrike">
                <a:solidFill>
                  <a:schemeClr val="lt1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ftr" idx="40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lt1"/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lt1"/>
                </a:solidFill>
                <a:latin typeface="TradeGothic"/>
              </a:rPr>
              <a:t>@SIH Idea submission- Template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Oval 10"/>
          <p:cNvSpPr/>
          <p:nvPr/>
        </p:nvSpPr>
        <p:spPr>
          <a:xfrm>
            <a:off x="329760" y="25236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Team CrimeCast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Picture 11" descr="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ln w="0">
            <a:noFill/>
          </a:ln>
        </p:spPr>
      </p:pic>
      <p:sp>
        <p:nvSpPr>
          <p:cNvPr id="138" name="TextBox 17409"/>
          <p:cNvSpPr/>
          <p:nvPr/>
        </p:nvSpPr>
        <p:spPr>
          <a:xfrm>
            <a:off x="411480" y="1051560"/>
            <a:ext cx="5486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TECHNOLOGY STACK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9" name="Table 17410"/>
          <p:cNvGraphicFramePr/>
          <p:nvPr/>
        </p:nvGraphicFramePr>
        <p:xfrm>
          <a:off x="411480" y="1252800"/>
          <a:ext cx="11383920" cy="1737000"/>
        </p:xfrm>
        <a:graphic>
          <a:graphicData uri="http://schemas.openxmlformats.org/drawingml/2006/table">
            <a:tbl>
              <a:tblPr/>
              <a:tblGrid>
                <a:gridCol w="1707480"/>
                <a:gridCol w="3187440"/>
                <a:gridCol w="6489000"/>
              </a:tblGrid>
              <a:tr h="217080">
                <a:tc>
                  <a:txBody>
                    <a:bodyPr l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l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l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Why This Choice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</a:tr>
              <a:tr h="217080"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80" spc="-1" strike="noStrike">
                          <a:solidFill>
                            <a:srgbClr val="2e7c91"/>
                          </a:solidFill>
                          <a:latin typeface="Calibri"/>
                        </a:rPr>
                        <a:t>ML Model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8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LightGBM 4.7 (Calibrated)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80" spc="-1" strike="noStrike">
                          <a:solidFill>
                            <a:srgbClr val="555b66"/>
                          </a:solidFill>
                          <a:latin typeface="Calibri"/>
                        </a:rPr>
                        <a:t>Best for imbalanced 40-class; HITL-calibrated probabilities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7080"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80" spc="-1" strike="noStrike">
                          <a:solidFill>
                            <a:srgbClr val="2e7c91"/>
                          </a:solidFill>
                          <a:latin typeface="Calibri"/>
                        </a:rPr>
                        <a:t>GIS Clustering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8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DBSCAN (scikit-learn)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80" spc="-1" strike="noStrike">
                          <a:solidFill>
                            <a:srgbClr val="555b66"/>
                          </a:solidFill>
                          <a:latin typeface="Calibri"/>
                        </a:rPr>
                        <a:t>Handles irregular ATM cluster shapes, no fixed count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217080"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80" spc="-1" strike="noStrike">
                          <a:solidFill>
                            <a:srgbClr val="2e7c91"/>
                          </a:solidFill>
                          <a:latin typeface="Calibri"/>
                        </a:rPr>
                        <a:t>Backend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8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Django 4.2 LTS + DRF 3.15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80" spc="-1" strike="noStrike">
                          <a:solidFill>
                            <a:srgbClr val="555b66"/>
                          </a:solidFill>
                          <a:latin typeface="Calibri"/>
                        </a:rPr>
                        <a:t>Govt-grade stability; mature ORM for audit-trail integrity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7080"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80" spc="-1" strike="noStrike">
                          <a:solidFill>
                            <a:srgbClr val="2e7c91"/>
                          </a:solidFill>
                          <a:latin typeface="Calibri"/>
                        </a:rPr>
                        <a:t>Async Queue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8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Celery + Redis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80" spc="-1" strike="noStrike">
                          <a:solidFill>
                            <a:srgbClr val="555b66"/>
                          </a:solidFill>
                          <a:latin typeface="Calibri"/>
                        </a:rPr>
                        <a:t>Non-blocking inference; handles complaint surge, no timeouts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217080"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80" spc="-1" strike="noStrike">
                          <a:solidFill>
                            <a:srgbClr val="2e7c91"/>
                          </a:solidFill>
                          <a:latin typeface="Calibri"/>
                        </a:rPr>
                        <a:t>Real-Time Comms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8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Django Channels (WebSocket)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80" spc="-1" strike="noStrike">
                          <a:solidFill>
                            <a:srgbClr val="555b66"/>
                          </a:solidFill>
                          <a:latin typeface="Calibri"/>
                        </a:rPr>
                        <a:t>Sub-second alerts without polling; critical for interdiction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7080"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80" spc="-1" strike="noStrike">
                          <a:solidFill>
                            <a:srgbClr val="2e7c91"/>
                          </a:solidFill>
                          <a:latin typeface="Calibri"/>
                        </a:rPr>
                        <a:t>Frontend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8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React 19 + Vite + Leaflet.js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80" spc="-1" strike="noStrike">
                          <a:solidFill>
                            <a:srgbClr val="555b66"/>
                          </a:solidFill>
                          <a:latin typeface="Calibri"/>
                        </a:rPr>
                        <a:t>HUD dashboard; offline-capable heatmap for air-gapped demo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217080"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80" spc="-1" strike="noStrike">
                          <a:solidFill>
                            <a:srgbClr val="2e7c91"/>
                          </a:solidFill>
                          <a:latin typeface="Calibri"/>
                        </a:rPr>
                        <a:t>Database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8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PostgreSQL 16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27360" tIns="31680" bIns="31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80" spc="-1" strike="noStrike">
                          <a:solidFill>
                            <a:srgbClr val="555b66"/>
                          </a:solidFill>
                          <a:latin typeface="Calibri"/>
                        </a:rPr>
                        <a:t>ACID compliance for immutable, judicially-sound audit log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7411"/>
          <p:cNvSpPr/>
          <p:nvPr/>
        </p:nvSpPr>
        <p:spPr>
          <a:xfrm>
            <a:off x="411480" y="3099960"/>
            <a:ext cx="68302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SYSTEM ARCHITECTURE — DATA FLOW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17412"/>
          <p:cNvSpPr/>
          <p:nvPr/>
        </p:nvSpPr>
        <p:spPr>
          <a:xfrm>
            <a:off x="7498080" y="3099960"/>
            <a:ext cx="42973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WORKING PROTOTYPE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ounded Rectangle 17413"/>
          <p:cNvSpPr/>
          <p:nvPr/>
        </p:nvSpPr>
        <p:spPr>
          <a:xfrm>
            <a:off x="411480" y="3319200"/>
            <a:ext cx="6830280" cy="189720"/>
          </a:xfrm>
          <a:prstGeom prst="roundRect">
            <a:avLst>
              <a:gd name="adj" fmla="val 9000"/>
            </a:avLst>
          </a:prstGeom>
          <a:solidFill>
            <a:srgbClr val="4bac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FRONTEND — React 19 + Vite + Leaflet.js HUD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Isosceles Triangle 17414"/>
          <p:cNvSpPr/>
          <p:nvPr/>
        </p:nvSpPr>
        <p:spPr>
          <a:xfrm rot="10800000">
            <a:off x="599040" y="3541680"/>
            <a:ext cx="82080" cy="82080"/>
          </a:xfrm>
          <a:prstGeom prst="triangle">
            <a:avLst>
              <a:gd name="adj" fmla="val 50000"/>
            </a:avLst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cxnSp>
        <p:nvCxnSpPr>
          <p:cNvPr id="144" name="Connector 17415"/>
          <p:cNvCxnSpPr/>
          <p:nvPr/>
        </p:nvCxnSpPr>
        <p:spPr>
          <a:xfrm>
            <a:off x="640080" y="3509280"/>
            <a:ext cx="360" cy="146520"/>
          </a:xfrm>
          <a:prstGeom prst="straightConnector1">
            <a:avLst/>
          </a:prstGeom>
          <a:ln w="17780">
            <a:solidFill>
              <a:srgbClr val="f79646"/>
            </a:solidFill>
            <a:round/>
          </a:ln>
        </p:spPr>
      </p:cxnSp>
      <p:sp>
        <p:nvSpPr>
          <p:cNvPr id="145" name="TextBox 17416"/>
          <p:cNvSpPr/>
          <p:nvPr/>
        </p:nvSpPr>
        <p:spPr>
          <a:xfrm>
            <a:off x="822960" y="3526200"/>
            <a:ext cx="637308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3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HTTPS / WSS  -&gt;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ounded Rectangle 17417"/>
          <p:cNvSpPr/>
          <p:nvPr/>
        </p:nvSpPr>
        <p:spPr>
          <a:xfrm>
            <a:off x="411480" y="3655800"/>
            <a:ext cx="6830280" cy="189720"/>
          </a:xfrm>
          <a:prstGeom prst="roundRect">
            <a:avLst>
              <a:gd name="adj" fmla="val 9000"/>
            </a:avLst>
          </a:prstGeom>
          <a:solidFill>
            <a:srgbClr val="1f49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API GATEWAY — Nginx + Gunicorn/Daphne + DRF (JWT)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Isosceles Triangle 17418"/>
          <p:cNvSpPr/>
          <p:nvPr/>
        </p:nvSpPr>
        <p:spPr>
          <a:xfrm rot="10800000">
            <a:off x="599040" y="3878280"/>
            <a:ext cx="82080" cy="82080"/>
          </a:xfrm>
          <a:prstGeom prst="triangle">
            <a:avLst>
              <a:gd name="adj" fmla="val 50000"/>
            </a:avLst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cxnSp>
        <p:nvCxnSpPr>
          <p:cNvPr id="148" name="Connector 17419"/>
          <p:cNvCxnSpPr/>
          <p:nvPr/>
        </p:nvCxnSpPr>
        <p:spPr>
          <a:xfrm>
            <a:off x="640080" y="3845880"/>
            <a:ext cx="360" cy="146520"/>
          </a:xfrm>
          <a:prstGeom prst="straightConnector1">
            <a:avLst/>
          </a:prstGeom>
          <a:ln w="17780">
            <a:solidFill>
              <a:srgbClr val="f79646"/>
            </a:solidFill>
            <a:round/>
          </a:ln>
        </p:spPr>
      </p:cxnSp>
      <p:sp>
        <p:nvSpPr>
          <p:cNvPr id="149" name="TextBox 17420"/>
          <p:cNvSpPr/>
          <p:nvPr/>
        </p:nvSpPr>
        <p:spPr>
          <a:xfrm>
            <a:off x="822960" y="3862440"/>
            <a:ext cx="637308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3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Django ORM / Celery Dispatch  -&gt;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ounded Rectangle 17421"/>
          <p:cNvSpPr/>
          <p:nvPr/>
        </p:nvSpPr>
        <p:spPr>
          <a:xfrm>
            <a:off x="411480" y="3992400"/>
            <a:ext cx="6830280" cy="189720"/>
          </a:xfrm>
          <a:prstGeom prst="roundRect">
            <a:avLst>
              <a:gd name="adj" fmla="val 9000"/>
            </a:avLst>
          </a:prstGeom>
          <a:solidFill>
            <a:srgbClr val="1430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CORE SERVICES — Celery Queue + Django Channels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Isosceles Triangle 17422"/>
          <p:cNvSpPr/>
          <p:nvPr/>
        </p:nvSpPr>
        <p:spPr>
          <a:xfrm rot="10800000">
            <a:off x="599040" y="4214520"/>
            <a:ext cx="82080" cy="82080"/>
          </a:xfrm>
          <a:prstGeom prst="triangle">
            <a:avLst>
              <a:gd name="adj" fmla="val 50000"/>
            </a:avLst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cxnSp>
        <p:nvCxnSpPr>
          <p:cNvPr id="152" name="Connector 17423"/>
          <p:cNvCxnSpPr/>
          <p:nvPr/>
        </p:nvCxnSpPr>
        <p:spPr>
          <a:xfrm>
            <a:off x="640080" y="4182120"/>
            <a:ext cx="360" cy="146880"/>
          </a:xfrm>
          <a:prstGeom prst="straightConnector1">
            <a:avLst/>
          </a:prstGeom>
          <a:ln w="17780">
            <a:solidFill>
              <a:srgbClr val="f79646"/>
            </a:solidFill>
            <a:round/>
          </a:ln>
        </p:spPr>
      </p:cxnSp>
      <p:sp>
        <p:nvSpPr>
          <p:cNvPr id="153" name="TextBox 17424"/>
          <p:cNvSpPr/>
          <p:nvPr/>
        </p:nvSpPr>
        <p:spPr>
          <a:xfrm>
            <a:off x="822960" y="4199040"/>
            <a:ext cx="637308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3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Celery Task  -&gt;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ounded Rectangle 17425"/>
          <p:cNvSpPr/>
          <p:nvPr/>
        </p:nvSpPr>
        <p:spPr>
          <a:xfrm>
            <a:off x="411480" y="4328640"/>
            <a:ext cx="3346200" cy="189720"/>
          </a:xfrm>
          <a:prstGeom prst="roundRect">
            <a:avLst>
              <a:gd name="adj" fmla="val 9000"/>
            </a:avLst>
          </a:prstGeom>
          <a:solidFill>
            <a:srgbClr val="c96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TIER-1: LightGBM (Top-5 Zones)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Isosceles Triangle 17426"/>
          <p:cNvSpPr/>
          <p:nvPr/>
        </p:nvSpPr>
        <p:spPr>
          <a:xfrm rot="5400000">
            <a:off x="3795120" y="4392000"/>
            <a:ext cx="63720" cy="63720"/>
          </a:xfrm>
          <a:prstGeom prst="triangle">
            <a:avLst>
              <a:gd name="adj" fmla="val 50000"/>
            </a:avLst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156" name="Rounded Rectangle 17427"/>
          <p:cNvSpPr/>
          <p:nvPr/>
        </p:nvSpPr>
        <p:spPr>
          <a:xfrm>
            <a:off x="3895200" y="4328640"/>
            <a:ext cx="3346200" cy="189720"/>
          </a:xfrm>
          <a:prstGeom prst="roundRect">
            <a:avLst>
              <a:gd name="adj" fmla="val 9000"/>
            </a:avLst>
          </a:prstGeom>
          <a:solidFill>
            <a:srgbClr val="c96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TIER-2: DBSCAN (ATM Clusters)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Box 17428"/>
          <p:cNvSpPr/>
          <p:nvPr/>
        </p:nvSpPr>
        <p:spPr>
          <a:xfrm>
            <a:off x="411480" y="4182480"/>
            <a:ext cx="68302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70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Top-5 Zone IDs  -&gt;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Isosceles Triangle 17429"/>
          <p:cNvSpPr/>
          <p:nvPr/>
        </p:nvSpPr>
        <p:spPr>
          <a:xfrm rot="10800000">
            <a:off x="599040" y="4551120"/>
            <a:ext cx="82080" cy="82080"/>
          </a:xfrm>
          <a:prstGeom prst="triangle">
            <a:avLst>
              <a:gd name="adj" fmla="val 50000"/>
            </a:avLst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cxnSp>
        <p:nvCxnSpPr>
          <p:cNvPr id="159" name="Connector 17430"/>
          <p:cNvCxnSpPr/>
          <p:nvPr/>
        </p:nvCxnSpPr>
        <p:spPr>
          <a:xfrm>
            <a:off x="640080" y="4518720"/>
            <a:ext cx="360" cy="146880"/>
          </a:xfrm>
          <a:prstGeom prst="straightConnector1">
            <a:avLst/>
          </a:prstGeom>
          <a:ln w="17780">
            <a:solidFill>
              <a:srgbClr val="f79646"/>
            </a:solidFill>
            <a:round/>
          </a:ln>
        </p:spPr>
      </p:cxnSp>
      <p:sp>
        <p:nvSpPr>
          <p:cNvPr id="160" name="TextBox 17431"/>
          <p:cNvSpPr/>
          <p:nvPr/>
        </p:nvSpPr>
        <p:spPr>
          <a:xfrm>
            <a:off x="822960" y="4535640"/>
            <a:ext cx="637308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3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ATM Clusters + ETA  -&gt;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ounded Rectangle 17432"/>
          <p:cNvSpPr/>
          <p:nvPr/>
        </p:nvSpPr>
        <p:spPr>
          <a:xfrm>
            <a:off x="411480" y="4665240"/>
            <a:ext cx="6830280" cy="189720"/>
          </a:xfrm>
          <a:prstGeom prst="roundRect">
            <a:avLst>
              <a:gd name="adj" fmla="val 9000"/>
            </a:avLst>
          </a:prstGeom>
          <a:solidFill>
            <a:srgbClr val="7ca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DISPATCH — Bank / LEA / CERT-In (I4C, HITL Gate)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Isosceles Triangle 17433"/>
          <p:cNvSpPr/>
          <p:nvPr/>
        </p:nvSpPr>
        <p:spPr>
          <a:xfrm rot="10800000">
            <a:off x="599040" y="4887720"/>
            <a:ext cx="82080" cy="82080"/>
          </a:xfrm>
          <a:prstGeom prst="triangle">
            <a:avLst>
              <a:gd name="adj" fmla="val 50000"/>
            </a:avLst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cxnSp>
        <p:nvCxnSpPr>
          <p:cNvPr id="163" name="Connector 17434"/>
          <p:cNvCxnSpPr/>
          <p:nvPr/>
        </p:nvCxnSpPr>
        <p:spPr>
          <a:xfrm>
            <a:off x="640080" y="4855320"/>
            <a:ext cx="360" cy="146520"/>
          </a:xfrm>
          <a:prstGeom prst="straightConnector1">
            <a:avLst/>
          </a:prstGeom>
          <a:ln w="17780">
            <a:solidFill>
              <a:srgbClr val="f79646"/>
            </a:solidFill>
            <a:round/>
          </a:ln>
        </p:spPr>
      </p:cxnSp>
      <p:sp>
        <p:nvSpPr>
          <p:cNvPr id="164" name="TextBox 17435"/>
          <p:cNvSpPr/>
          <p:nvPr/>
        </p:nvSpPr>
        <p:spPr>
          <a:xfrm>
            <a:off x="822960" y="4871880"/>
            <a:ext cx="637308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3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SQL Write / Audit Log  -&gt;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ounded Rectangle 17436"/>
          <p:cNvSpPr/>
          <p:nvPr/>
        </p:nvSpPr>
        <p:spPr>
          <a:xfrm>
            <a:off x="411480" y="5001840"/>
            <a:ext cx="6830280" cy="189720"/>
          </a:xfrm>
          <a:prstGeom prst="roundRect">
            <a:avLst>
              <a:gd name="adj" fmla="val 9000"/>
            </a:avLst>
          </a:prstGeom>
          <a:solidFill>
            <a:srgbClr val="1430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DATA LAYER — PostgreSQL 16 + Redis + joblib Store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66" name="Connector 17437"/>
          <p:cNvCxnSpPr/>
          <p:nvPr/>
        </p:nvCxnSpPr>
        <p:spPr>
          <a:xfrm>
            <a:off x="7150320" y="5096520"/>
            <a:ext cx="201600" cy="360"/>
          </a:xfrm>
          <a:prstGeom prst="straightConnector1">
            <a:avLst/>
          </a:prstGeom>
          <a:ln w="17780">
            <a:solidFill>
              <a:srgbClr val="f79646"/>
            </a:solidFill>
            <a:round/>
          </a:ln>
        </p:spPr>
      </p:cxnSp>
      <p:cxnSp>
        <p:nvCxnSpPr>
          <p:cNvPr id="167" name="Connector 17438"/>
          <p:cNvCxnSpPr/>
          <p:nvPr/>
        </p:nvCxnSpPr>
        <p:spPr>
          <a:xfrm flipV="1">
            <a:off x="7351560" y="3414240"/>
            <a:ext cx="360" cy="1682640"/>
          </a:xfrm>
          <a:prstGeom prst="straightConnector1">
            <a:avLst/>
          </a:prstGeom>
          <a:ln w="17780">
            <a:solidFill>
              <a:srgbClr val="f79646"/>
            </a:solidFill>
            <a:round/>
          </a:ln>
        </p:spPr>
      </p:cxnSp>
      <p:cxnSp>
        <p:nvCxnSpPr>
          <p:cNvPr id="168" name="Connector 17439"/>
          <p:cNvCxnSpPr/>
          <p:nvPr/>
        </p:nvCxnSpPr>
        <p:spPr>
          <a:xfrm flipH="1">
            <a:off x="7168680" y="3414240"/>
            <a:ext cx="183240" cy="360"/>
          </a:xfrm>
          <a:prstGeom prst="straightConnector1">
            <a:avLst/>
          </a:prstGeom>
          <a:ln w="17780">
            <a:solidFill>
              <a:srgbClr val="f79646"/>
            </a:solidFill>
            <a:round/>
          </a:ln>
        </p:spPr>
      </p:cxnSp>
      <p:sp>
        <p:nvSpPr>
          <p:cNvPr id="169" name="Isosceles Triangle 17440"/>
          <p:cNvSpPr/>
          <p:nvPr/>
        </p:nvSpPr>
        <p:spPr>
          <a:xfrm rot="16200000">
            <a:off x="7113960" y="3378240"/>
            <a:ext cx="72720" cy="72720"/>
          </a:xfrm>
          <a:prstGeom prst="triangle">
            <a:avLst>
              <a:gd name="adj" fmla="val 50000"/>
            </a:avLst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170" name="TextBox 17441"/>
          <p:cNvSpPr/>
          <p:nvPr/>
        </p:nvSpPr>
        <p:spPr>
          <a:xfrm>
            <a:off x="7369920" y="3657600"/>
            <a:ext cx="91404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5000"/>
              </a:lnSpc>
            </a:pPr>
            <a:r>
              <a:rPr b="1" lang="en-US" sz="68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WebSocket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95000"/>
              </a:lnSpc>
            </a:pPr>
            <a:r>
              <a:rPr b="1" lang="en-US" sz="68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Push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95000"/>
              </a:lnSpc>
            </a:pPr>
            <a:r>
              <a:rPr b="1" lang="en-US" sz="68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(real-time)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Picture 17442" descr="assets_dashboard_mockup.png"/>
          <p:cNvPicPr/>
          <p:nvPr/>
        </p:nvPicPr>
        <p:blipFill>
          <a:blip r:embed="rId2"/>
          <a:stretch/>
        </p:blipFill>
        <p:spPr>
          <a:xfrm>
            <a:off x="8452080" y="3319200"/>
            <a:ext cx="2389320" cy="1535760"/>
          </a:xfrm>
          <a:prstGeom prst="rect">
            <a:avLst/>
          </a:prstGeom>
          <a:ln w="0">
            <a:noFill/>
          </a:ln>
        </p:spPr>
      </p:pic>
      <p:sp>
        <p:nvSpPr>
          <p:cNvPr id="172" name="TextBox 17443"/>
          <p:cNvSpPr/>
          <p:nvPr/>
        </p:nvSpPr>
        <p:spPr>
          <a:xfrm>
            <a:off x="7498080" y="4883040"/>
            <a:ext cx="42973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i="1" lang="en-US" sz="800" spc="-1" strike="noStrike">
                <a:solidFill>
                  <a:srgbClr val="555b66"/>
                </a:solidFill>
                <a:latin typeface="Calibri"/>
                <a:ea typeface="ＭＳ Ｐゴシック"/>
              </a:rPr>
              <a:t>Live React 19 Dashboard — Heatmap + HITL Prediction Review Panel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17444"/>
          <p:cNvSpPr/>
          <p:nvPr/>
        </p:nvSpPr>
        <p:spPr>
          <a:xfrm>
            <a:off x="411480" y="5203080"/>
            <a:ext cx="5486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MODEL SCORECARD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ounded Rectangle 17445"/>
          <p:cNvSpPr/>
          <p:nvPr/>
        </p:nvSpPr>
        <p:spPr>
          <a:xfrm>
            <a:off x="411480" y="5586840"/>
            <a:ext cx="2159280" cy="456840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22225">
            <a:solidFill>
              <a:srgbClr val="7ca6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15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52.15%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0" lang="en-US" sz="700" spc="-1" strike="noStrike">
                <a:solidFill>
                  <a:srgbClr val="555b66"/>
                </a:solidFill>
                <a:latin typeface="Calibri"/>
                <a:ea typeface="ＭＳ Ｐゴシック"/>
              </a:rPr>
              <a:t>Top-1 Accuracy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ounded Rectangle 17446"/>
          <p:cNvSpPr/>
          <p:nvPr/>
        </p:nvSpPr>
        <p:spPr>
          <a:xfrm>
            <a:off x="2717640" y="5586840"/>
            <a:ext cx="2159280" cy="456840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22225">
            <a:solidFill>
              <a:srgbClr val="7ca6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15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81.17%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0" lang="en-US" sz="700" spc="-1" strike="noStrike">
                <a:solidFill>
                  <a:srgbClr val="555b66"/>
                </a:solidFill>
                <a:latin typeface="Calibri"/>
                <a:ea typeface="ＭＳ Ｐゴシック"/>
              </a:rPr>
              <a:t>Top-3 Accuracy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17447"/>
          <p:cNvSpPr/>
          <p:nvPr/>
        </p:nvSpPr>
        <p:spPr>
          <a:xfrm>
            <a:off x="5023800" y="5257800"/>
            <a:ext cx="21592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50" spc="-1" strike="noStrike">
                <a:solidFill>
                  <a:srgbClr val="c99a1e"/>
                </a:solidFill>
                <a:latin typeface="Calibri"/>
                <a:ea typeface="ＭＳ Ｐゴシック"/>
              </a:rPr>
              <a:t>★  </a:t>
            </a:r>
            <a:r>
              <a:rPr b="1" lang="en-US" sz="850" spc="-1" strike="noStrike">
                <a:solidFill>
                  <a:srgbClr val="c99a1e"/>
                </a:solidFill>
                <a:latin typeface="Calibri"/>
                <a:ea typeface="ＭＳ Ｐゴシック"/>
              </a:rPr>
              <a:t>HEADLINE METRIC  ★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ounded Rectangle 17448"/>
          <p:cNvSpPr/>
          <p:nvPr/>
        </p:nvSpPr>
        <p:spPr>
          <a:xfrm>
            <a:off x="5023800" y="5440680"/>
            <a:ext cx="2159280" cy="603000"/>
          </a:xfrm>
          <a:prstGeom prst="roundRect">
            <a:avLst>
              <a:gd name="adj" fmla="val 10000"/>
            </a:avLst>
          </a:prstGeom>
          <a:solidFill>
            <a:srgbClr val="1b6b4a"/>
          </a:solidFill>
          <a:ln w="28575">
            <a:solidFill>
              <a:srgbClr val="c99a1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225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92.36%</a:t>
            </a:r>
            <a:endParaRPr b="0" lang="en-US" sz="225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1" lang="en-US" sz="800" spc="-1" strike="noStrike">
                <a:solidFill>
                  <a:srgbClr val="d8f0e2"/>
                </a:solidFill>
                <a:latin typeface="Calibri"/>
                <a:ea typeface="ＭＳ Ｐゴシック"/>
              </a:rPr>
              <a:t>Top-5 Accuracy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Rounded Rectangle 17449"/>
          <p:cNvSpPr/>
          <p:nvPr/>
        </p:nvSpPr>
        <p:spPr>
          <a:xfrm>
            <a:off x="7329960" y="5586840"/>
            <a:ext cx="2159280" cy="456840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22225">
            <a:solidFill>
              <a:srgbClr val="c050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1500" spc="-1" strike="noStrike">
                <a:solidFill>
                  <a:srgbClr val="c0504d"/>
                </a:solidFill>
                <a:latin typeface="Calibri"/>
                <a:ea typeface="ＭＳ Ｐゴシック"/>
              </a:rPr>
              <a:t>24.79%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0" lang="en-US" sz="700" spc="-1" strike="noStrike">
                <a:solidFill>
                  <a:srgbClr val="555b66"/>
                </a:solidFill>
                <a:latin typeface="Calibri"/>
                <a:ea typeface="ＭＳ Ｐゴシック"/>
              </a:rPr>
              <a:t>Majority Baseline  (← what we beat)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ounded Rectangle 17450"/>
          <p:cNvSpPr/>
          <p:nvPr/>
        </p:nvSpPr>
        <p:spPr>
          <a:xfrm>
            <a:off x="9636120" y="5586840"/>
            <a:ext cx="2159280" cy="456840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22225">
            <a:solidFill>
              <a:srgbClr val="7ca6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15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+67.6 pts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0" lang="en-US" sz="700" spc="-1" strike="noStrike">
                <a:solidFill>
                  <a:srgbClr val="555b66"/>
                </a:solidFill>
                <a:latin typeface="Calibri"/>
                <a:ea typeface="ＭＳ Ｐゴシック"/>
              </a:rPr>
              <a:t>CrimeCast Lift over Baseline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ounded Rectangle 17451"/>
          <p:cNvSpPr/>
          <p:nvPr/>
        </p:nvSpPr>
        <p:spPr>
          <a:xfrm>
            <a:off x="411480" y="6099120"/>
            <a:ext cx="11383920" cy="255600"/>
          </a:xfrm>
          <a:prstGeom prst="roundRect">
            <a:avLst>
              <a:gd name="adj" fmla="val 35000"/>
            </a:avLst>
          </a:prstGeom>
          <a:solidFill>
            <a:srgbClr val="4bac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43054"/>
                </a:solidFill>
                <a:latin typeface="Calibri"/>
                <a:ea typeface="ＭＳ Ｐゴシック"/>
              </a:rPr>
              <a:t>ABLATION STUDY: 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7 Core Signal Features alone = 92.36% Top-5 — model is scientifically robust, not pattern-memorized.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691640" y="0"/>
            <a:ext cx="8229240" cy="776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1f497d"/>
                </a:solidFill>
                <a:latin typeface="Cambria"/>
                <a:ea typeface="ＭＳ Ｐゴシック"/>
              </a:rPr>
              <a:t>FEASIBILITY AND VIABILITY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1" lang="en-US" sz="1200" spc="-1" strike="noStrike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96238A7-5B26-4253-8D96-7B1101EDA814}" type="slidenum">
              <a:rPr b="1" lang="en-US" sz="1200" spc="-1" strike="noStrike">
                <a:solidFill>
                  <a:srgbClr val="ffffff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ftr" idx="42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ffffff"/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TradeGothic"/>
              </a:rPr>
              <a:t>@SIH Idea submission- Template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Oval 11"/>
          <p:cNvSpPr/>
          <p:nvPr/>
        </p:nvSpPr>
        <p:spPr>
          <a:xfrm>
            <a:off x="329760" y="25236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Team CrimeCast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Picture 10" descr="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ln w="0">
            <a:noFill/>
          </a:ln>
        </p:spPr>
      </p:pic>
      <p:sp>
        <p:nvSpPr>
          <p:cNvPr id="187" name="TextBox 17409"/>
          <p:cNvSpPr/>
          <p:nvPr/>
        </p:nvSpPr>
        <p:spPr>
          <a:xfrm>
            <a:off x="411480" y="1051560"/>
            <a:ext cx="5486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MoSCoW FEATURE MATRIX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8" name="Table 17410"/>
          <p:cNvGraphicFramePr/>
          <p:nvPr/>
        </p:nvGraphicFramePr>
        <p:xfrm>
          <a:off x="411480" y="1252800"/>
          <a:ext cx="11383920" cy="1691280"/>
        </p:xfrm>
        <a:graphic>
          <a:graphicData uri="http://schemas.openxmlformats.org/drawingml/2006/table">
            <a:tbl>
              <a:tblPr/>
              <a:tblGrid>
                <a:gridCol w="1479600"/>
                <a:gridCol w="6602760"/>
                <a:gridCol w="3301200"/>
              </a:tblGrid>
              <a:tr h="187920">
                <a:tc>
                  <a:txBody>
                    <a:bodyPr l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l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l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</a:tr>
              <a:tr h="187920"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c0504d"/>
                          </a:solidFill>
                          <a:latin typeface="Calibri"/>
                        </a:rPr>
                        <a:t>MUST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ML inference pipeline (end-to-end)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0" spc="-1" strike="noStrike">
                          <a:solidFill>
                            <a:srgbClr val="7ca64b"/>
                          </a:solidFill>
                          <a:latin typeface="Calibri"/>
                        </a:rPr>
                        <a:t>Built &amp; Tested</a:t>
                      </a:r>
                      <a:endParaRPr b="0" lang="en-U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920"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c0504d"/>
                          </a:solidFill>
                          <a:latin typeface="Calibri"/>
                        </a:rPr>
                        <a:t>MUST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HITL Review Dashboard (React + WebSocket)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0" spc="-1" strike="noStrike">
                          <a:solidFill>
                            <a:srgbClr val="7ca64b"/>
                          </a:solidFill>
                          <a:latin typeface="Calibri"/>
                        </a:rPr>
                        <a:t>Built</a:t>
                      </a:r>
                      <a:endParaRPr b="0" lang="en-U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187920"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c0504d"/>
                          </a:solidFill>
                          <a:latin typeface="Calibri"/>
                        </a:rPr>
                        <a:t>MUST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Audit Log (immutable, per-prediction)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0" spc="-1" strike="noStrike">
                          <a:solidFill>
                            <a:srgbClr val="7ca64b"/>
                          </a:solidFill>
                          <a:latin typeface="Calibri"/>
                        </a:rPr>
                        <a:t>Built</a:t>
                      </a:r>
                      <a:endParaRPr b="0" lang="en-U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920"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c0504d"/>
                          </a:solidFill>
                          <a:latin typeface="Calibri"/>
                        </a:rPr>
                        <a:t>MUST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Complaint Ingest API (REST + validation)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0" spc="-1" strike="noStrike">
                          <a:solidFill>
                            <a:srgbClr val="7ca64b"/>
                          </a:solidFill>
                          <a:latin typeface="Calibri"/>
                        </a:rPr>
                        <a:t>Built</a:t>
                      </a:r>
                      <a:endParaRPr b="0" lang="en-U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187920"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c96e1e"/>
                          </a:solidFill>
                          <a:latin typeface="Calibri"/>
                        </a:rPr>
                        <a:t>SHOULD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Live I4C NCRP Webhook Integration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0" spc="-1" strike="noStrike">
                          <a:solidFill>
                            <a:srgbClr val="c96e1e"/>
                          </a:solidFill>
                          <a:latin typeface="Calibri"/>
                        </a:rPr>
                        <a:t>Simulated (I4C NDA required)</a:t>
                      </a:r>
                      <a:endParaRPr b="0" lang="en-U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920"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c96e1e"/>
                          </a:solidFill>
                          <a:latin typeface="Calibri"/>
                        </a:rPr>
                        <a:t>SHOULD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Real ATM GIS data (RBI Open Data)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0" spc="-1" strike="noStrike">
                          <a:solidFill>
                            <a:srgbClr val="c96e1e"/>
                          </a:solidFill>
                          <a:latin typeface="Calibri"/>
                        </a:rPr>
                        <a:t>Calibrated synthetic</a:t>
                      </a:r>
                      <a:endParaRPr b="0" lang="en-U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187920"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7ca64b"/>
                          </a:solidFill>
                          <a:latin typeface="Calibri"/>
                        </a:rPr>
                        <a:t>COULD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Case clustering across multiple complaints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0" spc="-1" strike="noStrike">
                          <a:solidFill>
                            <a:srgbClr val="555b66"/>
                          </a:solidFill>
                          <a:latin typeface="Calibri"/>
                        </a:rPr>
                        <a:t>Post-hackathon</a:t>
                      </a:r>
                      <a:endParaRPr b="0" lang="en-U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920"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555b66"/>
                          </a:solidFill>
                          <a:latin typeface="Calibri"/>
                        </a:rPr>
                        <a:t>WON'T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Full 700+ district coverage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22680" bIns="226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0" spc="-1" strike="noStrike">
                          <a:solidFill>
                            <a:srgbClr val="555b66"/>
                          </a:solidFill>
                          <a:latin typeface="Calibri"/>
                        </a:rPr>
                        <a:t>Requires real NCRB data (NDA)</a:t>
                      </a:r>
                      <a:endParaRPr b="0" lang="en-U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89" name="Rounded Rectangle 17411"/>
          <p:cNvSpPr/>
          <p:nvPr/>
        </p:nvSpPr>
        <p:spPr>
          <a:xfrm>
            <a:off x="411480" y="3017520"/>
            <a:ext cx="11383920" cy="402120"/>
          </a:xfrm>
          <a:prstGeom prst="roundRect">
            <a:avLst>
              <a:gd name="adj" fmla="val 14000"/>
            </a:avLst>
          </a:prstGeom>
          <a:solidFill>
            <a:srgbClr val="7ca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0" bIns="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✅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DEMO READY: 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All 4 Must-Have features are built, tested, and running — 60 backend tests pass (0 failures).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e6f5e9"/>
                </a:solidFill>
                <a:latin typeface="Calibri"/>
                <a:ea typeface="ＭＳ Ｐゴシック"/>
              </a:rPr>
              <a:t>End-to-end flow: Complaint → Prediction → HITL Review → Dispatch Audit completes in under 90 seconds.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Box 17412"/>
          <p:cNvSpPr/>
          <p:nvPr/>
        </p:nvSpPr>
        <p:spPr>
          <a:xfrm>
            <a:off x="411480" y="3529440"/>
            <a:ext cx="68302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RISKS &amp; MITIGATIONS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17413"/>
          <p:cNvSpPr/>
          <p:nvPr/>
        </p:nvSpPr>
        <p:spPr>
          <a:xfrm>
            <a:off x="7498080" y="3529440"/>
            <a:ext cx="42973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SCALABILITY PLAN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2" name="Table 17414"/>
          <p:cNvGraphicFramePr/>
          <p:nvPr/>
        </p:nvGraphicFramePr>
        <p:xfrm>
          <a:off x="411480" y="3749040"/>
          <a:ext cx="6830280" cy="2102760"/>
        </p:xfrm>
        <a:graphic>
          <a:graphicData uri="http://schemas.openxmlformats.org/drawingml/2006/table">
            <a:tbl>
              <a:tblPr/>
              <a:tblGrid>
                <a:gridCol w="2322360"/>
                <a:gridCol w="819360"/>
                <a:gridCol w="819360"/>
                <a:gridCol w="2868480"/>
              </a:tblGrid>
              <a:tr h="310680">
                <a:tc>
                  <a:txBody>
                    <a:bodyPr l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  <a:endParaRPr b="0" lang="en-US" sz="86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l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Likely</a:t>
                      </a:r>
                      <a:endParaRPr b="0" lang="en-US" sz="86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l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  <a:endParaRPr b="0" lang="en-US" sz="86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l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6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  <a:endParaRPr b="0" lang="en-US" sz="86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</a:tr>
              <a:tr h="358200"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39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Synthetic data -&gt; real-world gap</a:t>
                      </a:r>
                      <a:endParaRPr b="0" lang="en-US" sz="8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9" spc="-1" strike="noStrike">
                          <a:solidFill>
                            <a:srgbClr val="c96e1e"/>
                          </a:solidFill>
                          <a:latin typeface="Calibri"/>
                        </a:rPr>
                        <a:t>Med</a:t>
                      </a:r>
                      <a:endParaRPr b="0" lang="en-US" sz="8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9" spc="-1" strike="noStrike">
                          <a:solidFill>
                            <a:srgbClr val="c0504d"/>
                          </a:solidFill>
                          <a:latin typeface="Calibri"/>
                        </a:rPr>
                        <a:t>High</a:t>
                      </a:r>
                      <a:endParaRPr b="0" lang="en-US" sz="8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555b66"/>
                          </a:solidFill>
                          <a:latin typeface="Calibri"/>
                        </a:rPr>
                        <a:t>NCRB+RBI calibrated; ablation validates generalization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8200"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39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Live dispatch API unavailable at demo</a:t>
                      </a:r>
                      <a:endParaRPr b="0" lang="en-US" sz="8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9" spc="-1" strike="noStrike">
                          <a:solidFill>
                            <a:srgbClr val="7ca64b"/>
                          </a:solidFill>
                          <a:latin typeface="Calibri"/>
                        </a:rPr>
                        <a:t>Low</a:t>
                      </a:r>
                      <a:endParaRPr b="0" lang="en-US" sz="8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9" spc="-1" strike="noStrike">
                          <a:solidFill>
                            <a:srgbClr val="c0504d"/>
                          </a:solidFill>
                          <a:latin typeface="Calibri"/>
                        </a:rPr>
                        <a:t>High</a:t>
                      </a:r>
                      <a:endParaRPr b="0" lang="en-US" sz="8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555b66"/>
                          </a:solidFill>
                          <a:latin typeface="Calibri"/>
                        </a:rPr>
                        <a:t>I4C-compliant simulated adapters; demo works fully offline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358200"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39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WebSocket instability on judge laptop</a:t>
                      </a:r>
                      <a:endParaRPr b="0" lang="en-US" sz="8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9" spc="-1" strike="noStrike">
                          <a:solidFill>
                            <a:srgbClr val="7ca64b"/>
                          </a:solidFill>
                          <a:latin typeface="Calibri"/>
                        </a:rPr>
                        <a:t>Low</a:t>
                      </a:r>
                      <a:endParaRPr b="0" lang="en-US" sz="8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9" spc="-1" strike="noStrike">
                          <a:solidFill>
                            <a:srgbClr val="c96e1e"/>
                          </a:solidFill>
                          <a:latin typeface="Calibri"/>
                        </a:rPr>
                        <a:t>Med</a:t>
                      </a:r>
                      <a:endParaRPr b="0" lang="en-US" sz="8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555b66"/>
                          </a:solidFill>
                          <a:latin typeface="Calibri"/>
                        </a:rPr>
                        <a:t>Graceful fallback to polling; predictions persist in DB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8200"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39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High-volume complaint surge</a:t>
                      </a:r>
                      <a:endParaRPr b="0" lang="en-US" sz="8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9" spc="-1" strike="noStrike">
                          <a:solidFill>
                            <a:srgbClr val="7ca64b"/>
                          </a:solidFill>
                          <a:latin typeface="Calibri"/>
                        </a:rPr>
                        <a:t>Low</a:t>
                      </a:r>
                      <a:endParaRPr b="0" lang="en-US" sz="8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9" spc="-1" strike="noStrike">
                          <a:solidFill>
                            <a:srgbClr val="c96e1e"/>
                          </a:solidFill>
                          <a:latin typeface="Calibri"/>
                        </a:rPr>
                        <a:t>Med</a:t>
                      </a:r>
                      <a:endParaRPr b="0" lang="en-US" sz="8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555b66"/>
                          </a:solidFill>
                          <a:latin typeface="Calibri"/>
                        </a:rPr>
                        <a:t>Celery horizontal worker scaling; Redis backpressure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358200"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39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Model drift with evolving fraud patterns</a:t>
                      </a:r>
                      <a:endParaRPr b="0" lang="en-US" sz="8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9" spc="-1" strike="noStrike">
                          <a:solidFill>
                            <a:srgbClr val="c96e1e"/>
                          </a:solidFill>
                          <a:latin typeface="Calibri"/>
                        </a:rPr>
                        <a:t>Med</a:t>
                      </a:r>
                      <a:endParaRPr b="0" lang="en-US" sz="8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39" spc="-1" strike="noStrike">
                          <a:solidFill>
                            <a:srgbClr val="c96e1e"/>
                          </a:solidFill>
                          <a:latin typeface="Calibri"/>
                        </a:rPr>
                        <a:t>Med</a:t>
                      </a:r>
                      <a:endParaRPr b="0" lang="en-US" sz="8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1800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555b66"/>
                          </a:solidFill>
                          <a:latin typeface="Calibri"/>
                        </a:rPr>
                        <a:t>Weekly automated drift check (Celery task)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3" name="Rounded Rectangle 17415"/>
          <p:cNvSpPr/>
          <p:nvPr/>
        </p:nvSpPr>
        <p:spPr>
          <a:xfrm>
            <a:off x="7498080" y="3749040"/>
            <a:ext cx="4297320" cy="621360"/>
          </a:xfrm>
          <a:prstGeom prst="roundRect">
            <a:avLst>
              <a:gd name="adj" fmla="val 10000"/>
            </a:avLst>
          </a:prstGeom>
          <a:solidFill>
            <a:srgbClr val="4bac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rIns="90000" tIns="0" bIns="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000" spc="-1" strike="noStrike">
                <a:solidFill>
                  <a:srgbClr val="f79646"/>
                </a:solidFill>
                <a:latin typeface="Calibri"/>
                <a:ea typeface="ＭＳ Ｐゴシック"/>
              </a:rPr>
              <a:t>TIER 1  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&lt; 1,000 complaints/day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790" spc="-1" strike="noStrike">
                <a:solidFill>
                  <a:srgbClr val="e4eaf2"/>
                </a:solidFill>
                <a:latin typeface="Calibri"/>
                <a:ea typeface="ＭＳ Ｐゴシック"/>
              </a:rPr>
              <a:t>Single VPS (~ Rs.2,000/mo) — Gunicorn + Daphne</a:t>
            </a:r>
            <a:endParaRPr b="0" lang="en-US" sz="7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Rounded Rectangle 17416"/>
          <p:cNvSpPr/>
          <p:nvPr/>
        </p:nvSpPr>
        <p:spPr>
          <a:xfrm>
            <a:off x="7498080" y="4462200"/>
            <a:ext cx="4297320" cy="621360"/>
          </a:xfrm>
          <a:prstGeom prst="roundRect">
            <a:avLst>
              <a:gd name="adj" fmla="val 10000"/>
            </a:avLst>
          </a:prstGeom>
          <a:solidFill>
            <a:srgbClr val="1f49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rIns="90000" tIns="0" bIns="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000" spc="-1" strike="noStrike">
                <a:solidFill>
                  <a:srgbClr val="f79646"/>
                </a:solidFill>
                <a:latin typeface="Calibri"/>
                <a:ea typeface="ＭＳ Ｐゴシック"/>
              </a:rPr>
              <a:t>TIER 2  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&lt; 50,000 complaints/day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790" spc="-1" strike="noStrike">
                <a:solidFill>
                  <a:srgbClr val="e4eaf2"/>
                </a:solidFill>
                <a:latin typeface="Calibri"/>
                <a:ea typeface="ＭＳ Ｐゴシック"/>
              </a:rPr>
              <a:t>AWS EC2 t3.large + RDS + ElastiCache (~ Rs.8,000/mo)</a:t>
            </a:r>
            <a:endParaRPr b="0" lang="en-US" sz="7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Rounded Rectangle 17417"/>
          <p:cNvSpPr/>
          <p:nvPr/>
        </p:nvSpPr>
        <p:spPr>
          <a:xfrm>
            <a:off x="7498080" y="5175360"/>
            <a:ext cx="4297320" cy="621360"/>
          </a:xfrm>
          <a:prstGeom prst="roundRect">
            <a:avLst>
              <a:gd name="adj" fmla="val 10000"/>
            </a:avLst>
          </a:prstGeom>
          <a:solidFill>
            <a:srgbClr val="1430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rIns="90000" tIns="0" bIns="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000" spc="-1" strike="noStrike">
                <a:solidFill>
                  <a:srgbClr val="f79646"/>
                </a:solidFill>
                <a:latin typeface="Calibri"/>
                <a:ea typeface="ＭＳ Ｐゴシック"/>
              </a:rPr>
              <a:t>TIER 3  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National deployment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790" spc="-1" strike="noStrike">
                <a:solidFill>
                  <a:srgbClr val="e4eaf2"/>
                </a:solidFill>
                <a:latin typeface="Calibri"/>
                <a:ea typeface="ＭＳ Ｐゴシック"/>
              </a:rPr>
              <a:t>Kubernetes + HPA on NIC Cloud (~ Rs.40,000/mo for national 700-district deployment)</a:t>
            </a:r>
            <a:endParaRPr b="0" lang="en-US" sz="7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Box 17418"/>
          <p:cNvSpPr/>
          <p:nvPr/>
        </p:nvSpPr>
        <p:spPr>
          <a:xfrm>
            <a:off x="7498080" y="5852160"/>
            <a:ext cx="4297320" cy="12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820" spc="-1" strike="noStrike">
                <a:solidFill>
                  <a:srgbClr val="2e7c91"/>
                </a:solidFill>
                <a:latin typeface="Calibri"/>
                <a:ea typeface="ＭＳ Ｐゴシック"/>
              </a:rPr>
              <a:t>All tiers: NIC Cloud / MeghRaj (Govt Cloud) compliant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17419"/>
          <p:cNvSpPr/>
          <p:nvPr/>
        </p:nvSpPr>
        <p:spPr>
          <a:xfrm>
            <a:off x="7498080" y="6035040"/>
            <a:ext cx="42973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i="1" lang="en-US" sz="780" spc="-1" strike="noStrike">
                <a:solidFill>
                  <a:srgbClr val="2e7c91"/>
                </a:solidFill>
                <a:latin typeface="Calibri"/>
                <a:ea typeface="ＭＳ Ｐゴシック"/>
              </a:rPr>
              <a:t>Cost-Benefit: </a:t>
            </a:r>
            <a:r>
              <a:rPr b="0" i="1" lang="en-US" sz="780" spc="-1" strike="noStrike">
                <a:solidFill>
                  <a:srgbClr val="2e7c91"/>
                </a:solidFill>
                <a:latin typeface="Calibri"/>
                <a:ea typeface="ＭＳ Ｐゴシック"/>
              </a:rPr>
              <a:t>NCRB 2023 average fraud = ₹11,333/case. Even 3 successful interceptions/month at Tier 1 (₹2,000/mo) makes deployment economically justified.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691640" y="0"/>
            <a:ext cx="8229240" cy="776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1f497d"/>
                </a:solidFill>
                <a:latin typeface="Cambria"/>
                <a:ea typeface="ＭＳ Ｐゴシック"/>
              </a:rPr>
              <a:t>IMPACT AND BENEFITS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ldNum" idx="4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1" lang="en-US" sz="1200" spc="-1" strike="noStrike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C548A32-BC75-4612-A634-002557919428}" type="slidenum">
              <a:rPr b="1" lang="en-US" sz="1200" spc="-1" strike="noStrike">
                <a:solidFill>
                  <a:srgbClr val="ffffff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ftr" idx="44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ffffff"/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TradeGothic"/>
              </a:rPr>
              <a:t>@SIH Idea submission- Template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Oval 11"/>
          <p:cNvSpPr/>
          <p:nvPr/>
        </p:nvSpPr>
        <p:spPr>
          <a:xfrm>
            <a:off x="329760" y="25236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Team CrimeCast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Picture 10" descr="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ln w="0">
            <a:noFill/>
          </a:ln>
        </p:spPr>
      </p:pic>
      <p:sp>
        <p:nvSpPr>
          <p:cNvPr id="204" name="TextBox 17409"/>
          <p:cNvSpPr/>
          <p:nvPr/>
        </p:nvSpPr>
        <p:spPr>
          <a:xfrm>
            <a:off x="411480" y="1051560"/>
            <a:ext cx="5486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QUANTIFIED IMPACT METRICS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Rounded Rectangle 17410"/>
          <p:cNvSpPr/>
          <p:nvPr/>
        </p:nvSpPr>
        <p:spPr>
          <a:xfrm>
            <a:off x="411480" y="1271160"/>
            <a:ext cx="2159280" cy="603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9050">
            <a:solidFill>
              <a:srgbClr val="4bac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16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92.36%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0" lang="en-US" sz="760" spc="-1" strike="noStrike">
                <a:solidFill>
                  <a:srgbClr val="555b66"/>
                </a:solidFill>
                <a:latin typeface="Calibri"/>
                <a:ea typeface="ＭＳ Ｐゴシック"/>
              </a:rPr>
              <a:t>Top-5 Accuracy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0" lang="en-US" sz="760" spc="-1" strike="noStrike">
                <a:solidFill>
                  <a:srgbClr val="555b66"/>
                </a:solidFill>
                <a:latin typeface="Calibri"/>
                <a:ea typeface="ＭＳ Ｐゴシック"/>
              </a:rPr>
              <a:t>700 districts -&gt; 5 ranked zones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ounded Rectangle 17411"/>
          <p:cNvSpPr/>
          <p:nvPr/>
        </p:nvSpPr>
        <p:spPr>
          <a:xfrm>
            <a:off x="2717640" y="1271160"/>
            <a:ext cx="2159280" cy="603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9050">
            <a:solidFill>
              <a:srgbClr val="4bac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16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&lt;90 sec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0" lang="en-US" sz="760" spc="-1" strike="noStrike">
                <a:solidFill>
                  <a:srgbClr val="555b66"/>
                </a:solidFill>
                <a:latin typeface="Calibri"/>
                <a:ea typeface="ＭＳ Ｐゴシック"/>
              </a:rPr>
              <a:t>Complaint registration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0" lang="en-US" sz="760" spc="-1" strike="noStrike">
                <a:solidFill>
                  <a:srgbClr val="555b66"/>
                </a:solidFill>
                <a:latin typeface="Calibri"/>
                <a:ea typeface="ＭＳ Ｐゴシック"/>
              </a:rPr>
              <a:t>to LEA intel package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ounded Rectangle 17412"/>
          <p:cNvSpPr/>
          <p:nvPr/>
        </p:nvSpPr>
        <p:spPr>
          <a:xfrm>
            <a:off x="5023800" y="1271160"/>
            <a:ext cx="2159280" cy="603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9050">
            <a:solidFill>
              <a:srgbClr val="4bac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16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2 hrs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0" lang="en-US" sz="760" spc="-1" strike="noStrike">
                <a:solidFill>
                  <a:srgbClr val="555b66"/>
                </a:solidFill>
                <a:latin typeface="Calibri"/>
                <a:ea typeface="ＭＳ Ｐゴシック"/>
              </a:rPr>
              <a:t>Operational lead time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0" lang="en-US" sz="760" spc="-1" strike="noStrike">
                <a:solidFill>
                  <a:srgbClr val="555b66"/>
                </a:solidFill>
                <a:latin typeface="Calibri"/>
                <a:ea typeface="ＭＳ Ｐゴシック"/>
              </a:rPr>
              <a:t>vs 24-72 hr reactive status quo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Rounded Rectangle 17413"/>
          <p:cNvSpPr/>
          <p:nvPr/>
        </p:nvSpPr>
        <p:spPr>
          <a:xfrm>
            <a:off x="7329960" y="1271160"/>
            <a:ext cx="2159280" cy="603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9050">
            <a:solidFill>
              <a:srgbClr val="4bac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16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Rs.11.56L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0" lang="en-US" sz="760" spc="-1" strike="noStrike">
                <a:solidFill>
                  <a:srgbClr val="555b66"/>
                </a:solidFill>
                <a:latin typeface="Calibri"/>
                <a:ea typeface="ＭＳ Ｐゴシック"/>
              </a:rPr>
              <a:t>Avg. fraud amount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0" lang="en-US" sz="760" spc="-1" strike="noStrike">
                <a:solidFill>
                  <a:srgbClr val="555b66"/>
                </a:solidFill>
                <a:latin typeface="Calibri"/>
                <a:ea typeface="ＭＳ Ｐゴシック"/>
              </a:rPr>
              <a:t>per case (NCRB 2023)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ounded Rectangle 17414"/>
          <p:cNvSpPr/>
          <p:nvPr/>
        </p:nvSpPr>
        <p:spPr>
          <a:xfrm>
            <a:off x="9636120" y="1271160"/>
            <a:ext cx="2159280" cy="603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9050">
            <a:solidFill>
              <a:srgbClr val="4bacc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95000"/>
              </a:lnSpc>
            </a:pPr>
            <a:r>
              <a:rPr b="1" lang="en-US" sz="16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4 Agencies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0" lang="en-US" sz="760" spc="-1" strike="noStrike">
                <a:solidFill>
                  <a:srgbClr val="555b66"/>
                </a:solidFill>
                <a:latin typeface="Calibri"/>
                <a:ea typeface="ＭＳ Ｐゴシック"/>
              </a:rPr>
              <a:t>Served: I4C, State LEA,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5000"/>
              </a:lnSpc>
            </a:pPr>
            <a:r>
              <a:rPr b="0" lang="en-US" sz="760" spc="-1" strike="noStrike">
                <a:solidFill>
                  <a:srgbClr val="555b66"/>
                </a:solidFill>
                <a:latin typeface="Calibri"/>
                <a:ea typeface="ＭＳ Ｐゴシック"/>
              </a:rPr>
              <a:t>Bank Fraud Cells, CERT-In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17415"/>
          <p:cNvSpPr/>
          <p:nvPr/>
        </p:nvSpPr>
        <p:spPr>
          <a:xfrm>
            <a:off x="411480" y="203904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CASE STUDY WALKTHROUGH  —  Complaint CC-2026-00123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ounded Rectangle 17416"/>
          <p:cNvSpPr/>
          <p:nvPr/>
        </p:nvSpPr>
        <p:spPr>
          <a:xfrm>
            <a:off x="411480" y="2258640"/>
            <a:ext cx="1790280" cy="776880"/>
          </a:xfrm>
          <a:prstGeom prst="roundRect">
            <a:avLst>
              <a:gd name="adj" fmla="val 12000"/>
            </a:avLst>
          </a:prstGeom>
          <a:solidFill>
            <a:srgbClr val="4bac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f79646"/>
                </a:solidFill>
                <a:latin typeface="Calibri"/>
                <a:ea typeface="ＭＳ Ｐゴシック"/>
              </a:rPr>
              <a:t>T+0 min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Complaint filed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740" spc="-1" strike="noStrike">
                <a:solidFill>
                  <a:srgbClr val="eceff3"/>
                </a:solidFill>
                <a:latin typeface="Calibri"/>
                <a:ea typeface="ＭＳ Ｐゴシック"/>
              </a:rPr>
              <a:t>Rs.8.4L UPI fraud, Delhi origin, 4-hop mule chain</a:t>
            </a:r>
            <a:endParaRPr b="0" lang="en-US" sz="7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Isosceles Triangle 17417"/>
          <p:cNvSpPr/>
          <p:nvPr/>
        </p:nvSpPr>
        <p:spPr>
          <a:xfrm rot="5400000">
            <a:off x="2220840" y="2601360"/>
            <a:ext cx="91080" cy="91080"/>
          </a:xfrm>
          <a:prstGeom prst="triangle">
            <a:avLst>
              <a:gd name="adj" fmla="val 50000"/>
            </a:avLst>
          </a:prstGeom>
          <a:solidFill>
            <a:srgbClr val="555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213" name="Rounded Rectangle 17418"/>
          <p:cNvSpPr/>
          <p:nvPr/>
        </p:nvSpPr>
        <p:spPr>
          <a:xfrm>
            <a:off x="2330280" y="2258640"/>
            <a:ext cx="1790280" cy="776880"/>
          </a:xfrm>
          <a:prstGeom prst="roundRect">
            <a:avLst>
              <a:gd name="adj" fmla="val 12000"/>
            </a:avLst>
          </a:prstGeom>
          <a:solidFill>
            <a:srgbClr val="4bac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f79646"/>
                </a:solidFill>
                <a:latin typeface="Calibri"/>
                <a:ea typeface="ＭＳ Ｐゴシック"/>
              </a:rPr>
              <a:t>T+0.5 min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Prediction generated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740" spc="-1" strike="noStrike">
                <a:solidFill>
                  <a:srgbClr val="eceff3"/>
                </a:solidFill>
                <a:latin typeface="Calibri"/>
                <a:ea typeface="ＭＳ Ｐゴシック"/>
              </a:rPr>
              <a:t>Hyderabad 72.4% -&gt; 3 ATM clusters identified</a:t>
            </a:r>
            <a:endParaRPr b="0" lang="en-US" sz="7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Isosceles Triangle 17419"/>
          <p:cNvSpPr/>
          <p:nvPr/>
        </p:nvSpPr>
        <p:spPr>
          <a:xfrm rot="5400000">
            <a:off x="4139640" y="2601360"/>
            <a:ext cx="91080" cy="91080"/>
          </a:xfrm>
          <a:prstGeom prst="triangle">
            <a:avLst>
              <a:gd name="adj" fmla="val 50000"/>
            </a:avLst>
          </a:prstGeom>
          <a:solidFill>
            <a:srgbClr val="555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215" name="Rounded Rectangle 17420"/>
          <p:cNvSpPr/>
          <p:nvPr/>
        </p:nvSpPr>
        <p:spPr>
          <a:xfrm>
            <a:off x="4249080" y="2258640"/>
            <a:ext cx="1790280" cy="776880"/>
          </a:xfrm>
          <a:prstGeom prst="roundRect">
            <a:avLst>
              <a:gd name="adj" fmla="val 12000"/>
            </a:avLst>
          </a:prstGeom>
          <a:solidFill>
            <a:srgbClr val="c96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ffe9d2"/>
                </a:solidFill>
                <a:latin typeface="Calibri"/>
                <a:ea typeface="ＭＳ Ｐゴシック"/>
              </a:rPr>
              <a:t>T+0.7 min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HITL alert triggered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740" spc="-1" strike="noStrike">
                <a:solidFill>
                  <a:srgbClr val="eceff3"/>
                </a:solidFill>
                <a:latin typeface="Calibri"/>
                <a:ea typeface="ＭＳ Ｐゴシック"/>
              </a:rPr>
              <a:t>Confidence 0.724 &gt; tau=0.14, gate cleared</a:t>
            </a:r>
            <a:endParaRPr b="0" lang="en-US" sz="7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Isosceles Triangle 17421"/>
          <p:cNvSpPr/>
          <p:nvPr/>
        </p:nvSpPr>
        <p:spPr>
          <a:xfrm rot="5400000">
            <a:off x="6058440" y="2601360"/>
            <a:ext cx="91080" cy="91080"/>
          </a:xfrm>
          <a:prstGeom prst="triangle">
            <a:avLst>
              <a:gd name="adj" fmla="val 50000"/>
            </a:avLst>
          </a:prstGeom>
          <a:solidFill>
            <a:srgbClr val="555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217" name="Rounded Rectangle 17422"/>
          <p:cNvSpPr/>
          <p:nvPr/>
        </p:nvSpPr>
        <p:spPr>
          <a:xfrm>
            <a:off x="6167520" y="2258640"/>
            <a:ext cx="1790280" cy="776880"/>
          </a:xfrm>
          <a:prstGeom prst="roundRect">
            <a:avLst>
              <a:gd name="adj" fmla="val 12000"/>
            </a:avLst>
          </a:prstGeom>
          <a:solidFill>
            <a:srgbClr val="c96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ffe9d2"/>
                </a:solidFill>
                <a:latin typeface="Calibri"/>
                <a:ea typeface="ＭＳ Ｐゴシック"/>
              </a:rPr>
              <a:t>T+1.1 min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Analyst approves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740" spc="-1" strike="noStrike">
                <a:solidFill>
                  <a:srgbClr val="eceff3"/>
                </a:solidFill>
                <a:latin typeface="Calibri"/>
                <a:ea typeface="ＭＳ Ｐゴシック"/>
              </a:rPr>
              <a:t>Intel dispatched to Bank / LEA / CERT-In</a:t>
            </a:r>
            <a:endParaRPr b="0" lang="en-US" sz="7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Isosceles Triangle 17423"/>
          <p:cNvSpPr/>
          <p:nvPr/>
        </p:nvSpPr>
        <p:spPr>
          <a:xfrm rot="5400000">
            <a:off x="7976880" y="2601360"/>
            <a:ext cx="91080" cy="91080"/>
          </a:xfrm>
          <a:prstGeom prst="triangle">
            <a:avLst>
              <a:gd name="adj" fmla="val 50000"/>
            </a:avLst>
          </a:prstGeom>
          <a:solidFill>
            <a:srgbClr val="555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219" name="Rounded Rectangle 17424"/>
          <p:cNvSpPr/>
          <p:nvPr/>
        </p:nvSpPr>
        <p:spPr>
          <a:xfrm>
            <a:off x="8086320" y="2258640"/>
            <a:ext cx="1790280" cy="77688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f79646"/>
                </a:solidFill>
                <a:latin typeface="Calibri"/>
                <a:ea typeface="ＭＳ Ｐゴシック"/>
              </a:rPr>
              <a:t>T+110 min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ATM interdiction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740" spc="-1" strike="noStrike">
                <a:solidFill>
                  <a:srgbClr val="eceff3"/>
                </a:solidFill>
                <a:latin typeface="Calibri"/>
                <a:ea typeface="ＭＳ Ｐゴシック"/>
              </a:rPr>
              <a:t>Kukatpally cluster; suspect detained</a:t>
            </a:r>
            <a:endParaRPr b="0" lang="en-US" sz="7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Isosceles Triangle 17425"/>
          <p:cNvSpPr/>
          <p:nvPr/>
        </p:nvSpPr>
        <p:spPr>
          <a:xfrm rot="5400000">
            <a:off x="9895680" y="2601360"/>
            <a:ext cx="91080" cy="91080"/>
          </a:xfrm>
          <a:prstGeom prst="triangle">
            <a:avLst>
              <a:gd name="adj" fmla="val 50000"/>
            </a:avLst>
          </a:prstGeom>
          <a:solidFill>
            <a:srgbClr val="555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221" name="Rounded Rectangle 17426"/>
          <p:cNvSpPr/>
          <p:nvPr/>
        </p:nvSpPr>
        <p:spPr>
          <a:xfrm>
            <a:off x="10005120" y="2258640"/>
            <a:ext cx="1790280" cy="776880"/>
          </a:xfrm>
          <a:prstGeom prst="roundRect">
            <a:avLst>
              <a:gd name="adj" fmla="val 12000"/>
            </a:avLst>
          </a:prstGeom>
          <a:solidFill>
            <a:srgbClr val="7ca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f79646"/>
                </a:solidFill>
                <a:latin typeface="Calibri"/>
                <a:ea typeface="ＭＳ Ｐゴシック"/>
              </a:rPr>
              <a:t>OUTCOME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Case closed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740" spc="-1" strike="noStrike">
                <a:solidFill>
                  <a:srgbClr val="eceff3"/>
                </a:solidFill>
                <a:latin typeface="Calibri"/>
                <a:ea typeface="ＭＳ Ｐゴシック"/>
              </a:rPr>
              <a:t>Rs.8.4L recovered; evidence chain intact</a:t>
            </a:r>
            <a:endParaRPr b="0" lang="en-US" sz="7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Box 17427"/>
          <p:cNvSpPr/>
          <p:nvPr/>
        </p:nvSpPr>
        <p:spPr>
          <a:xfrm>
            <a:off x="411480" y="3200400"/>
            <a:ext cx="5486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BENEFICIARY MAP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3" name="Table 17428"/>
          <p:cNvGraphicFramePr/>
          <p:nvPr/>
        </p:nvGraphicFramePr>
        <p:xfrm>
          <a:off x="411480" y="3401640"/>
          <a:ext cx="11383920" cy="2514240"/>
        </p:xfrm>
        <a:graphic>
          <a:graphicData uri="http://schemas.openxmlformats.org/drawingml/2006/table">
            <a:tbl>
              <a:tblPr/>
              <a:tblGrid>
                <a:gridCol w="2276640"/>
                <a:gridCol w="9107280"/>
              </a:tblGrid>
              <a:tr h="255960">
                <a:tc>
                  <a:txBody>
                    <a:bodyPr lIns="7308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Stakeholder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lIns="7308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Benefit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97d"/>
                    </a:solidFill>
                  </a:tcPr>
                </a:tc>
              </a:tr>
              <a:tr h="451440">
                <a:tc>
                  <a:txBody>
                    <a:bodyPr lIns="7308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80" spc="-1" strike="noStrike">
                          <a:solidFill>
                            <a:srgbClr val="2e7c91"/>
                          </a:solidFill>
                          <a:latin typeface="Calibri"/>
                        </a:rPr>
                        <a:t>I4C (MHA)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Real-time intelligence coordination across 28 states — single unified platform replacing manual phone triage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1440">
                <a:tc>
                  <a:txBody>
                    <a:bodyPr lIns="7308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80" spc="-1" strike="noStrike">
                          <a:solidFill>
                            <a:srgbClr val="2e7c91"/>
                          </a:solidFill>
                          <a:latin typeface="Calibri"/>
                        </a:rPr>
                        <a:t>State LEA / SP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7308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Receives GPS-precise ATM cluster coordinates 1.8 hrs before estimated cash-out — zero reactive guesswork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451440">
                <a:tc>
                  <a:txBody>
                    <a:bodyPr lIns="7308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80" spc="-1" strike="noStrike">
                          <a:solidFill>
                            <a:srgbClr val="2e7c91"/>
                          </a:solidFill>
                          <a:latin typeface="Calibri"/>
                        </a:rPr>
                        <a:t>Bank Fraud Cells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Automated I4C-schema freeze advisory with exact mule account IDs — no manual bank-officer coordination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1440">
                <a:tc>
                  <a:txBody>
                    <a:bodyPr lIns="7308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80" spc="-1" strike="noStrike">
                          <a:solidFill>
                            <a:srgbClr val="2e7c91"/>
                          </a:solidFill>
                          <a:latin typeface="Calibri"/>
                        </a:rPr>
                        <a:t>Citizens / Victims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7308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Average ₹11.56L at stake per case — proactive interception converts loss to recovery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451440">
                <a:tc>
                  <a:txBody>
                    <a:bodyPr lIns="7308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80" spc="-1" strike="noStrike">
                          <a:solidFill>
                            <a:srgbClr val="2e7c91"/>
                          </a:solidFill>
                          <a:latin typeface="Calibri"/>
                        </a:rPr>
                        <a:t>CERT-In</a:t>
                      </a:r>
                      <a:endParaRPr b="0" lang="en-U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60" spc="-1" strike="noStrike">
                          <a:solidFill>
                            <a:srgbClr val="1b1f27"/>
                          </a:solidFill>
                          <a:latin typeface="Calibri"/>
                        </a:rPr>
                        <a:t>Automated structured advisories — enriches national threat intelligence database per incident, zero effort</a:t>
                      </a:r>
                      <a:endParaRPr b="0" lang="en-US" sz="8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4" name="Rounded Rectangle 17429"/>
          <p:cNvSpPr/>
          <p:nvPr/>
        </p:nvSpPr>
        <p:spPr>
          <a:xfrm>
            <a:off x="411480" y="5943600"/>
            <a:ext cx="11383920" cy="383760"/>
          </a:xfrm>
          <a:prstGeom prst="roundRect">
            <a:avLst>
              <a:gd name="adj" fmla="val 10000"/>
            </a:avLst>
          </a:prstGeom>
          <a:solidFill>
            <a:srgbClr val="1a1f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0" bIns="0" anchor="ctr">
            <a:noAutofit/>
          </a:bodyPr>
          <a:p>
            <a:pPr algn="ctr" defTabSz="457200">
              <a:lnSpc>
                <a:spcPct val="105000"/>
              </a:lnSpc>
            </a:pPr>
            <a:r>
              <a:rPr b="1" lang="en-US" sz="1050" spc="-1" strike="noStrike">
                <a:solidFill>
                  <a:srgbClr val="f79646"/>
                </a:solidFill>
                <a:latin typeface="Calibri"/>
                <a:ea typeface="ＭＳ Ｐゴシック"/>
              </a:rPr>
              <a:t>₹</a:t>
            </a:r>
            <a:r>
              <a:rPr b="1" lang="en-US" sz="1050" spc="-1" strike="noStrike">
                <a:solidFill>
                  <a:srgbClr val="f79646"/>
                </a:solidFill>
                <a:latin typeface="Calibri"/>
                <a:ea typeface="ＭＳ Ｐゴシック"/>
              </a:rPr>
              <a:t>11,333 crore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 lost to cybercrime in India in 2023 (NCRB).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5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CrimeCast transforms reactive LEA triage into proactive interception — shifting the advantage from criminal to law enforcement, for the first time.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691640" y="0"/>
            <a:ext cx="8686440" cy="776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1f497d"/>
                </a:solidFill>
                <a:latin typeface="Cambria"/>
                <a:ea typeface="ＭＳ Ｐゴシック"/>
              </a:rPr>
              <a:t>RESEARCH AND REFERENCES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sldNum" idx="4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1" lang="en-US" sz="1200" spc="-1" strike="noStrike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BEE2566-BFDF-4D96-833F-3D369567E1EF}" type="slidenum">
              <a:rPr b="1" lang="en-US" sz="1200" spc="-1" strike="noStrike">
                <a:solidFill>
                  <a:srgbClr val="ffffff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ftr" idx="46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ffffff"/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TradeGothic"/>
              </a:rPr>
              <a:t>@SIH Idea submission- Template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Oval 8"/>
          <p:cNvSpPr/>
          <p:nvPr/>
        </p:nvSpPr>
        <p:spPr>
          <a:xfrm>
            <a:off x="329760" y="25236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Team CrimeCast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0" name="Picture 11" descr="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ln w="0">
            <a:noFill/>
          </a:ln>
        </p:spPr>
      </p:pic>
      <p:sp>
        <p:nvSpPr>
          <p:cNvPr id="231" name="TextBox 17409"/>
          <p:cNvSpPr/>
          <p:nvPr/>
        </p:nvSpPr>
        <p:spPr>
          <a:xfrm>
            <a:off x="411480" y="1051560"/>
            <a:ext cx="63748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ACADEMIC &amp; GOVERNMENT REFERENCES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Oval 17410"/>
          <p:cNvSpPr/>
          <p:nvPr/>
        </p:nvSpPr>
        <p:spPr>
          <a:xfrm>
            <a:off x="411480" y="1426320"/>
            <a:ext cx="273960" cy="273960"/>
          </a:xfrm>
          <a:prstGeom prst="ellipse">
            <a:avLst/>
          </a:prstGeom>
          <a:solidFill>
            <a:srgbClr val="1f49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Box 17411"/>
          <p:cNvSpPr/>
          <p:nvPr/>
        </p:nvSpPr>
        <p:spPr>
          <a:xfrm>
            <a:off x="795600" y="1488600"/>
            <a:ext cx="59176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3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NCRB — “Crime in India: Annual Report 2023,” Ministry of Home Affairs, GoI, 2023.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Oval 17412"/>
          <p:cNvSpPr/>
          <p:nvPr/>
        </p:nvSpPr>
        <p:spPr>
          <a:xfrm>
            <a:off x="411480" y="1901880"/>
            <a:ext cx="273960" cy="273960"/>
          </a:xfrm>
          <a:prstGeom prst="ellipse">
            <a:avLst/>
          </a:prstGeom>
          <a:solidFill>
            <a:srgbClr val="1f49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Box 17413"/>
          <p:cNvSpPr/>
          <p:nvPr/>
        </p:nvSpPr>
        <p:spPr>
          <a:xfrm>
            <a:off x="795600" y="1964160"/>
            <a:ext cx="59176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3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RBI — “Annual Report on Digital Payments &amp; Fraud Statistics FY2022-23,” RBI Publications, 2023.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Oval 17414"/>
          <p:cNvSpPr/>
          <p:nvPr/>
        </p:nvSpPr>
        <p:spPr>
          <a:xfrm>
            <a:off x="411480" y="2377440"/>
            <a:ext cx="273960" cy="273960"/>
          </a:xfrm>
          <a:prstGeom prst="ellipse">
            <a:avLst/>
          </a:prstGeom>
          <a:solidFill>
            <a:srgbClr val="1f49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Box 17415"/>
          <p:cNvSpPr/>
          <p:nvPr/>
        </p:nvSpPr>
        <p:spPr>
          <a:xfrm>
            <a:off x="795600" y="2439720"/>
            <a:ext cx="59176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3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I4C — “Cybercrime MO Bulletins: Cash-Out via ATM Mule Networks,” MHA, 2023.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Oval 17416"/>
          <p:cNvSpPr/>
          <p:nvPr/>
        </p:nvSpPr>
        <p:spPr>
          <a:xfrm>
            <a:off x="411480" y="2853000"/>
            <a:ext cx="273960" cy="273960"/>
          </a:xfrm>
          <a:prstGeom prst="ellipse">
            <a:avLst/>
          </a:prstGeom>
          <a:solidFill>
            <a:srgbClr val="2e7c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Box 17417"/>
          <p:cNvSpPr/>
          <p:nvPr/>
        </p:nvSpPr>
        <p:spPr>
          <a:xfrm>
            <a:off x="795600" y="2914920"/>
            <a:ext cx="59176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3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Chen &amp; Guestrin — “XGBoost: A Scalable Tree Boosting System,” KDD 2016.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Oval 17418"/>
          <p:cNvSpPr/>
          <p:nvPr/>
        </p:nvSpPr>
        <p:spPr>
          <a:xfrm>
            <a:off x="411480" y="3328560"/>
            <a:ext cx="273960" cy="273960"/>
          </a:xfrm>
          <a:prstGeom prst="ellipse">
            <a:avLst/>
          </a:prstGeom>
          <a:solidFill>
            <a:srgbClr val="2e7c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Box 17419"/>
          <p:cNvSpPr/>
          <p:nvPr/>
        </p:nvSpPr>
        <p:spPr>
          <a:xfrm>
            <a:off x="795600" y="3390480"/>
            <a:ext cx="59176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3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Ke et al. — “LightGBM: A Highly Efficient Gradient Boosting Decision Tree,” NIPS 2017.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Oval 17420"/>
          <p:cNvSpPr/>
          <p:nvPr/>
        </p:nvSpPr>
        <p:spPr>
          <a:xfrm>
            <a:off x="411480" y="3803760"/>
            <a:ext cx="273960" cy="273960"/>
          </a:xfrm>
          <a:prstGeom prst="ellipse">
            <a:avLst/>
          </a:prstGeom>
          <a:solidFill>
            <a:srgbClr val="2e7c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Box 17421"/>
          <p:cNvSpPr/>
          <p:nvPr/>
        </p:nvSpPr>
        <p:spPr>
          <a:xfrm>
            <a:off x="795600" y="3866040"/>
            <a:ext cx="59176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3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Ester et al. — “A Density-Based Algorithm for Discovering Clusters (DBSCAN),” KDD 1996.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Oval 17422"/>
          <p:cNvSpPr/>
          <p:nvPr/>
        </p:nvSpPr>
        <p:spPr>
          <a:xfrm>
            <a:off x="411480" y="4279320"/>
            <a:ext cx="273960" cy="273960"/>
          </a:xfrm>
          <a:prstGeom prst="ellipse">
            <a:avLst/>
          </a:prstGeom>
          <a:solidFill>
            <a:srgbClr val="2e7c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7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Box 17423"/>
          <p:cNvSpPr/>
          <p:nvPr/>
        </p:nvSpPr>
        <p:spPr>
          <a:xfrm>
            <a:off x="795600" y="4341600"/>
            <a:ext cx="59176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3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Lundberg &amp; Lee — “A Unified Approach to Interpreting Model Predictions (SHAP),” NIPS 2017.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ounded Rectangle 17424"/>
          <p:cNvSpPr/>
          <p:nvPr/>
        </p:nvSpPr>
        <p:spPr>
          <a:xfrm>
            <a:off x="411480" y="4855320"/>
            <a:ext cx="6374880" cy="14536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</a:pPr>
            <a:r>
              <a:rPr b="1" i="1" lang="en-US" sz="105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“</a:t>
            </a:r>
            <a:r>
              <a:rPr b="1" i="1" lang="en-US" sz="105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From reactive investigation to proactive interception — 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20000"/>
              </a:lnSpc>
            </a:pPr>
            <a:r>
              <a:rPr b="1" i="1" lang="en-US" sz="105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every design choice in CrimeCast traces back to a peer-reviewed or government-published source.”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17425"/>
          <p:cNvSpPr/>
          <p:nvPr/>
        </p:nvSpPr>
        <p:spPr>
          <a:xfrm>
            <a:off x="7061040" y="1051560"/>
            <a:ext cx="47343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497d"/>
                </a:solidFill>
                <a:latin typeface="Calibri"/>
                <a:ea typeface="ＭＳ Ｐゴシック"/>
              </a:rPr>
              <a:t>PROTOTYPE &amp; RESOURCES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Oval 17426"/>
          <p:cNvSpPr/>
          <p:nvPr/>
        </p:nvSpPr>
        <p:spPr>
          <a:xfrm>
            <a:off x="7061040" y="1344240"/>
            <a:ext cx="145800" cy="145800"/>
          </a:xfrm>
          <a:prstGeom prst="ellipse">
            <a:avLst/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17427"/>
          <p:cNvSpPr/>
          <p:nvPr/>
        </p:nvSpPr>
        <p:spPr>
          <a:xfrm>
            <a:off x="7280280" y="1325880"/>
            <a:ext cx="45151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Live Demo:  </a:t>
            </a:r>
            <a:r>
              <a:rPr b="0" lang="en-US" sz="86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(add your deployed / local demo URL)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Oval 17428"/>
          <p:cNvSpPr/>
          <p:nvPr/>
        </p:nvSpPr>
        <p:spPr>
          <a:xfrm>
            <a:off x="7061040" y="1728360"/>
            <a:ext cx="145800" cy="145800"/>
          </a:xfrm>
          <a:prstGeom prst="ellipse">
            <a:avLst/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17429"/>
          <p:cNvSpPr/>
          <p:nvPr/>
        </p:nvSpPr>
        <p:spPr>
          <a:xfrm>
            <a:off x="7280280" y="1710000"/>
            <a:ext cx="45151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GitHub Repo:  </a:t>
            </a:r>
            <a:r>
              <a:rPr b="0" lang="en-US" sz="86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(add your team's repository link)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Oval 17430"/>
          <p:cNvSpPr/>
          <p:nvPr/>
        </p:nvSpPr>
        <p:spPr>
          <a:xfrm>
            <a:off x="7061040" y="2112120"/>
            <a:ext cx="145800" cy="145800"/>
          </a:xfrm>
          <a:prstGeom prst="ellipse">
            <a:avLst/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17431"/>
          <p:cNvSpPr/>
          <p:nvPr/>
        </p:nvSpPr>
        <p:spPr>
          <a:xfrm>
            <a:off x="7280280" y="2094120"/>
            <a:ext cx="45151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Model Metrics:  </a:t>
            </a:r>
            <a:r>
              <a:rPr b="0" lang="en-US" sz="86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/ml_models/model_metrics.json — ablation + SHAP values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Oval 17432"/>
          <p:cNvSpPr/>
          <p:nvPr/>
        </p:nvSpPr>
        <p:spPr>
          <a:xfrm>
            <a:off x="7061040" y="2496240"/>
            <a:ext cx="145800" cy="145800"/>
          </a:xfrm>
          <a:prstGeom prst="ellipse">
            <a:avLst/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17433"/>
          <p:cNvSpPr/>
          <p:nvPr/>
        </p:nvSpPr>
        <p:spPr>
          <a:xfrm>
            <a:off x="7280280" y="2477880"/>
            <a:ext cx="45151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API Docs:  </a:t>
            </a:r>
            <a:r>
              <a:rPr b="0" lang="en-US" sz="86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/api/schema/swagger-ui/ — OpenAPI 3.0, auto-generated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Oval 17434"/>
          <p:cNvSpPr/>
          <p:nvPr/>
        </p:nvSpPr>
        <p:spPr>
          <a:xfrm>
            <a:off x="7061040" y="2880360"/>
            <a:ext cx="145800" cy="145800"/>
          </a:xfrm>
          <a:prstGeom prst="ellipse">
            <a:avLst/>
          </a:prstGeom>
          <a:solidFill>
            <a:srgbClr val="f796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17435"/>
          <p:cNvSpPr/>
          <p:nvPr/>
        </p:nvSpPr>
        <p:spPr>
          <a:xfrm>
            <a:off x="7280280" y="2862000"/>
            <a:ext cx="45151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c96e1e"/>
                </a:solidFill>
                <a:latin typeface="Calibri"/>
                <a:ea typeface="ＭＳ Ｐゴシック"/>
              </a:rPr>
              <a:t>PS Reference:  </a:t>
            </a:r>
            <a:r>
              <a:rPr b="0" lang="en-US" sz="860" spc="-1" strike="noStrike">
                <a:solidFill>
                  <a:srgbClr val="1b1f27"/>
                </a:solidFill>
                <a:latin typeface="Calibri"/>
                <a:ea typeface="ＭＳ Ｐゴシック"/>
              </a:rPr>
              <a:t>SIH 2026 — Problem Statement #1671, MHA / I4C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Rounded Rectangle 17436"/>
          <p:cNvSpPr/>
          <p:nvPr/>
        </p:nvSpPr>
        <p:spPr>
          <a:xfrm>
            <a:off x="7061040" y="3429000"/>
            <a:ext cx="4734360" cy="1782720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28160" tIns="109800" bIns="109800" anchor="t">
            <a:noAutofit/>
          </a:bodyPr>
          <a:p>
            <a:pPr defTabSz="457200">
              <a:lnSpc>
                <a:spcPct val="120000"/>
              </a:lnSpc>
            </a:pPr>
            <a:r>
              <a:rPr b="1" lang="en-US" sz="1050" spc="-1" strike="noStrike">
                <a:solidFill>
                  <a:srgbClr val="f79646"/>
                </a:solidFill>
                <a:latin typeface="Calibri"/>
                <a:ea typeface="ＭＳ Ｐゴシック"/>
              </a:rPr>
              <a:t>ETHICS, PRIVACY &amp; COMPLIANCE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b="1" lang="en-US" sz="930" spc="-1" strike="noStrike">
                <a:solidFill>
                  <a:srgbClr val="4bacc6"/>
                </a:solidFill>
                <a:latin typeface="Calibri"/>
                <a:ea typeface="ＭＳ Ｐゴシック"/>
              </a:rPr>
              <a:t>•  </a:t>
            </a:r>
            <a:r>
              <a:rPr b="0" lang="en-US" sz="93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All training data synthetic (NCRB + RBI calibrated) — zero real PII used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b="1" lang="en-US" sz="930" spc="-1" strike="noStrike">
                <a:solidFill>
                  <a:srgbClr val="4bacc6"/>
                </a:solidFill>
                <a:latin typeface="Calibri"/>
                <a:ea typeface="ＭＳ Ｐゴシック"/>
              </a:rPr>
              <a:t>•  </a:t>
            </a:r>
            <a:r>
              <a:rPr b="0" lang="en-US" sz="93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DPDPA 2023 compliant; all case IDs anonymized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b="1" lang="en-US" sz="930" spc="-1" strike="noStrike">
                <a:solidFill>
                  <a:srgbClr val="4bacc6"/>
                </a:solidFill>
                <a:latin typeface="Calibri"/>
                <a:ea typeface="ＭＳ Ｐゴシック"/>
              </a:rPr>
              <a:t>•  </a:t>
            </a:r>
            <a:r>
              <a:rPr b="0" lang="en-US" sz="93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HITL-gated dispatch — no autonomous LEA action without analyst approval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b="1" lang="en-US" sz="930" spc="-1" strike="noStrike">
                <a:solidFill>
                  <a:srgbClr val="4bacc6"/>
                </a:solidFill>
                <a:latin typeface="Calibri"/>
                <a:ea typeface="ＭＳ Ｐゴシック"/>
              </a:rPr>
              <a:t>•  </a:t>
            </a:r>
            <a:r>
              <a:rPr b="0" lang="en-US" sz="93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Immutable audit logs — append-only, for judicial evidence integrity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b="1" lang="en-US" sz="930" spc="-1" strike="noStrike">
                <a:solidFill>
                  <a:srgbClr val="4bacc6"/>
                </a:solidFill>
                <a:latin typeface="Calibri"/>
                <a:ea typeface="ＭＳ Ｐゴシック"/>
              </a:rPr>
              <a:t>•  </a:t>
            </a:r>
            <a:r>
              <a:rPr b="0" lang="en-US" sz="930" spc="-1" strike="noStrike">
                <a:solidFill>
                  <a:srgbClr val="ffffff"/>
                </a:solidFill>
                <a:latin typeface="Calibri"/>
                <a:ea typeface="ＭＳ Ｐゴシック"/>
              </a:rPr>
              <a:t>Dispatch runs in “Simulated Mode” — live production requires I4C NDA onboarding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Rounded Rectangle 17437"/>
          <p:cNvSpPr/>
          <p:nvPr/>
        </p:nvSpPr>
        <p:spPr>
          <a:xfrm>
            <a:off x="7061040" y="5358240"/>
            <a:ext cx="4734360" cy="9507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i="1" lang="en-US" sz="1000" spc="-1" strike="noStrike">
                <a:solidFill>
                  <a:srgbClr val="2e7c91"/>
                </a:solidFill>
                <a:latin typeface="Calibri"/>
                <a:ea typeface="ＭＳ Ｐゴシック"/>
              </a:rPr>
              <a:t>Team CrimeCast  —  Smart India Hackathon 2026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7492</TotalTime>
  <Application>LibreOffice/24.2.7.2$Linux_X86_64 LibreOffice_project/420$Build-2</Application>
  <AppVersion>15.0000</AppVersion>
  <Words>325</Words>
  <Paragraphs>62</Paragraphs>
  <Company>Crowdfunder,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  <dc:description/>
  <dc:language>en-US</dc:language>
  <cp:lastModifiedBy/>
  <dcterms:modified xsi:type="dcterms:W3CDTF">2026-09-04T17:52:45Z</dcterms:modified>
  <cp:revision>149</cp:revision>
  <dc:subject/>
  <dc:title>Investor Pitch Deck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